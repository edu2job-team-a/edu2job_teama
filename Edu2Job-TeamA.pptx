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7" r:id="rId9"/>
    <p:sldId id="269" r:id="rId10"/>
    <p:sldId id="273" r:id="rId11"/>
    <p:sldId id="274" r:id="rId12"/>
    <p:sldId id="27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BD4D0-239C-45FC-844B-A7E01E0CC938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50F29B-E061-4A94-844B-90530497D6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63263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50F29B-E061-4A94-844B-90530497D680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78151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50F29B-E061-4A94-844B-90530497D680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2998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6AC02-4688-8F34-5233-46824543E8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22819B-6203-E35F-58F5-8720E589E0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599AE-8DFB-C2A7-5663-FB3729EED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2730D-3BFA-748A-A6B3-65B64607A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55CC3-0C0F-6403-F949-035CD4DBD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435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06CC1-D842-73F2-E26B-506C9DDA5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5DA05E-EAB5-D6A0-DE8E-AEB60319D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B0CDBF-2DCC-4758-D20B-A4763F983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7B0104-190C-ACE2-05DA-0F1D4AD35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57562C-BB5C-895B-15EF-A2C32E02E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0858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357A6-762A-1032-4F54-5DB5D479D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3A6BC6-C95B-34AF-FEC8-0EEEC36676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FFE73-C005-BF9F-BC4A-649420ED8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C1D991-DDCD-EC45-4B8B-279657FBC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0069C1-DC71-F6DA-B098-963FA1532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0657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8B5AC-DB3E-8B80-E6BC-32308330C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7CB7A-0643-0CAA-48B9-2179530C03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96EB0F-91F3-96F2-4D6D-68DA09685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6D5434-9752-16EB-0E82-9A5649EF7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951E74-7A0D-7A29-5174-2453FF8AA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317EDA-D621-F802-F145-65935013D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879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D844D-4C2F-8FC5-CFDE-2E3EA53BB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6EE415-AE3C-0AD1-8104-B2661BFD6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EE413-90E1-6C3B-21E9-F41743A56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040E17-182C-E0A4-28A5-E3434FCDC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69BE6E-E931-B75C-1FF5-F201E6667C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A9A705-92EC-25B8-8683-E0C6177A1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01DB4D-0F30-690D-193A-8A410560E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B29EB7-AA59-EF8E-2A56-E063A0BB0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2228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77E7A-7C9F-865F-6152-D5E320559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722A5B-E99D-791A-81F4-BA81E7315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7FABDC-1125-C73F-73AC-412F3C385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9A5280-A6B5-A5DD-E69E-9F795A04C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1480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F45361-01F3-F6AD-2858-95365E397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46A62A-DA4C-5FF7-2001-931381EBC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67EDBE-0E62-16E1-8735-E4E180D3A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5782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50332-E7D8-04B1-49C5-760FA803F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63A86-2DA4-F979-A41E-3836FFA14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F6E3C8-757C-3765-AAE2-16DD5DCCFE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6E5B67-0942-EF1A-E060-5F601053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F78560-5EF7-9720-24F6-2FF40D946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B4C667-61BD-C484-201B-A439EFD7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7916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9449A-A167-5F6E-802D-71CEA156F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993E92-5766-5FBA-1F9A-E4559D209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7636A8-9B87-66BB-7EA6-25AF67F5F1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3C20D0-212A-CC71-4408-A4F5BB03E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D68A72-094C-C316-25D5-4EB51B9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9676F3-3991-34C8-9D4C-E09F2CBAC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5015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F00BA-B387-54FD-3F81-32B0C32D1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811FAC-EFF6-E0AD-9FF0-DD3E416422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8094B7-9B65-8BFE-A15A-694BAC35F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DCD65-7E3B-A345-C242-DEA130375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91F36-8F72-A712-96AF-FD856CC00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5100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68681D-3792-9346-7252-7CFBC6DA13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691447-6A7D-57F0-B5AF-BC8EA9561C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3C9AF6-7681-B452-AE5E-11FB0F29A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36570-D847-480A-AAD4-6B02C674D222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7A8A38-A6E3-A980-4AD2-8AC987FC6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761E3-4977-F6FE-0B4D-940BFB56E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425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70EC1D-83F4-2520-CDF7-EADA559F8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20FD7B-5F20-2DB4-2037-563A3D9D6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FB0E68-7AE1-872D-71EC-61D142D33E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36570-D847-480A-AAD4-6B02C674D222}" type="datetimeFigureOut">
              <a:rPr lang="en-IN" smtClean="0"/>
              <a:t>18-01-2026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14BB21-FA08-3862-AD7B-5D7A6D153E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BEED5-0C23-64AA-E6FA-B1AF6537EF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A89B98-D6FE-445A-B54C-1E2BE22817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4326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3DEE2-F581-BBBA-2D0B-527FC245BB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Edu2Job:</a:t>
            </a:r>
            <a:r>
              <a:rPr lang="en-US" spc="-25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Predicting Job Roles from Educational Background</a:t>
            </a:r>
            <a:endParaRPr lang="en-IN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2F5512-7D1C-2D88-20CD-2F08151931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37838"/>
            <a:ext cx="9144000" cy="1707381"/>
          </a:xfrm>
        </p:spPr>
        <p:txBody>
          <a:bodyPr/>
          <a:lstStyle/>
          <a:p>
            <a:r>
              <a:rPr lang="en-US" spc="50" dirty="0">
                <a:solidFill>
                  <a:srgbClr val="374552"/>
                </a:solidFill>
                <a:latin typeface="Verdana"/>
                <a:cs typeface="Verdana"/>
              </a:rPr>
              <a:t>Bridging</a:t>
            </a:r>
            <a:r>
              <a:rPr lang="en-US" spc="-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10" dirty="0">
                <a:solidFill>
                  <a:srgbClr val="374552"/>
                </a:solidFill>
                <a:latin typeface="Verdana"/>
                <a:cs typeface="Verdana"/>
              </a:rPr>
              <a:t>Education</a:t>
            </a:r>
            <a:r>
              <a:rPr lang="en-US" spc="-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10" dirty="0">
                <a:solidFill>
                  <a:srgbClr val="374552"/>
                </a:solidFill>
                <a:latin typeface="Verdana"/>
                <a:cs typeface="Verdana"/>
              </a:rPr>
              <a:t>to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50" dirty="0">
                <a:solidFill>
                  <a:srgbClr val="374552"/>
                </a:solidFill>
                <a:latin typeface="Verdana"/>
                <a:cs typeface="Verdana"/>
              </a:rPr>
              <a:t>Employment</a:t>
            </a:r>
            <a:r>
              <a:rPr lang="en-US" spc="-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10" dirty="0">
                <a:solidFill>
                  <a:srgbClr val="374552"/>
                </a:solidFill>
                <a:latin typeface="Verdana"/>
                <a:cs typeface="Verdana"/>
              </a:rPr>
              <a:t>with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25" dirty="0">
                <a:solidFill>
                  <a:srgbClr val="374552"/>
                </a:solidFill>
                <a:latin typeface="Verdana"/>
                <a:cs typeface="Verdana"/>
              </a:rPr>
              <a:t>AI</a:t>
            </a:r>
            <a:endParaRPr lang="en-US" dirty="0">
              <a:latin typeface="Verdana"/>
              <a:cs typeface="Verdana"/>
            </a:endParaRPr>
          </a:p>
          <a:p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7AB8D4-74CA-C6B7-B98A-5CF11CAEDDC1}"/>
              </a:ext>
            </a:extLst>
          </p:cNvPr>
          <p:cNvSpPr txBox="1"/>
          <p:nvPr/>
        </p:nvSpPr>
        <p:spPr>
          <a:xfrm>
            <a:off x="5869858" y="4429919"/>
            <a:ext cx="58846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                      </a:t>
            </a:r>
            <a:endParaRPr lang="en-IN" sz="2800" b="1" dirty="0"/>
          </a:p>
        </p:txBody>
      </p:sp>
    </p:spTree>
    <p:extLst>
      <p:ext uri="{BB962C8B-B14F-4D97-AF65-F5344CB8AC3E}">
        <p14:creationId xmlns:p14="http://schemas.microsoft.com/office/powerpoint/2010/main" val="1266271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986BE-A8BE-AD95-13C6-99FA1634A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000" u="sng" spc="-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</a:t>
            </a:r>
            <a:r>
              <a:rPr lang="en-US" sz="4000" u="sng" spc="-25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000" u="sng" spc="-2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Problem:</a:t>
            </a:r>
            <a:r>
              <a:rPr lang="en-US" sz="4000" u="sng" spc="-25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000" u="sng" spc="-229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Navigating </a:t>
            </a:r>
            <a:r>
              <a:rPr lang="en-US" sz="4000" u="sng" spc="-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Career</a:t>
            </a:r>
            <a:r>
              <a:rPr lang="en-US" sz="4000" u="sng" spc="-2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000" u="sng" spc="-10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Uncertainty</a:t>
            </a:r>
            <a:endParaRPr lang="en-IN" sz="4000" u="sng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2CCBB-779F-D83C-FDF8-F49913AE1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999703"/>
          </a:xfrm>
        </p:spPr>
        <p:txBody>
          <a:bodyPr>
            <a:normAutofit fontScale="92500"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3500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Career </a:t>
            </a:r>
            <a:r>
              <a:rPr lang="en-US" sz="35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Confusion</a:t>
            </a:r>
            <a:endParaRPr lang="en-US" sz="35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marR="5080" indent="0">
              <a:lnSpc>
                <a:spcPct val="130800"/>
              </a:lnSpc>
              <a:spcBef>
                <a:spcPts val="555"/>
              </a:spcBef>
              <a:buNone/>
            </a:pPr>
            <a:r>
              <a:rPr lang="en-US" spc="-175" dirty="0">
                <a:solidFill>
                  <a:srgbClr val="374552"/>
                </a:solidFill>
                <a:latin typeface="Verdana"/>
                <a:cs typeface="Verdana"/>
              </a:rPr>
              <a:t>  75%</a:t>
            </a:r>
            <a:r>
              <a:rPr lang="en-US" spc="-8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of</a:t>
            </a:r>
            <a:r>
              <a:rPr lang="en-US" spc="-7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graduates</a:t>
            </a:r>
            <a:r>
              <a:rPr lang="en-US" spc="-8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face</a:t>
            </a:r>
            <a:r>
              <a:rPr lang="en-US" spc="-7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significant</a:t>
            </a:r>
            <a:r>
              <a:rPr lang="en-US" spc="-8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uncertainty</a:t>
            </a:r>
            <a:r>
              <a:rPr lang="en-US" spc="-7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about</a:t>
            </a:r>
            <a:r>
              <a:rPr lang="en-US" spc="-8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their</a:t>
            </a:r>
            <a:r>
              <a:rPr lang="en-US" spc="-7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career paths.</a:t>
            </a:r>
            <a:endParaRPr lang="en-US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3500" spc="-85" dirty="0">
                <a:latin typeface="Tahoma"/>
                <a:cs typeface="Tahoma"/>
              </a:rPr>
              <a:t>Skill</a:t>
            </a:r>
            <a:r>
              <a:rPr lang="en-US" sz="3500" spc="-120" dirty="0">
                <a:latin typeface="Tahoma"/>
                <a:cs typeface="Tahoma"/>
              </a:rPr>
              <a:t> </a:t>
            </a:r>
            <a:r>
              <a:rPr lang="en-US" sz="3500" spc="-25" dirty="0">
                <a:latin typeface="Tahoma"/>
                <a:cs typeface="Tahoma"/>
              </a:rPr>
              <a:t>Gap</a:t>
            </a:r>
            <a:endParaRPr lang="en-US" sz="3500" dirty="0">
              <a:latin typeface="Tahoma"/>
              <a:cs typeface="Tahoma"/>
            </a:endParaRPr>
          </a:p>
          <a:p>
            <a:pPr marL="0" indent="0">
              <a:lnSpc>
                <a:spcPct val="100000"/>
              </a:lnSpc>
              <a:spcBef>
                <a:spcPts val="120"/>
              </a:spcBef>
              <a:buNone/>
            </a:pPr>
            <a:r>
              <a:rPr lang="en-US" sz="3600" b="1" spc="-25" dirty="0">
                <a:solidFill>
                  <a:srgbClr val="374552"/>
                </a:solidFill>
                <a:latin typeface="Tahoma"/>
                <a:cs typeface="Tahoma"/>
              </a:rPr>
              <a:t>  </a:t>
            </a:r>
            <a:r>
              <a:rPr lang="en-US" spc="-25" dirty="0">
                <a:solidFill>
                  <a:srgbClr val="374552"/>
                </a:solidFill>
                <a:latin typeface="Verdana"/>
                <a:cs typeface="Verdana"/>
              </a:rPr>
              <a:t>Disparity</a:t>
            </a:r>
            <a:r>
              <a:rPr lang="en-US" spc="-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between</a:t>
            </a:r>
            <a:r>
              <a:rPr lang="en-US" spc="-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academic</a:t>
            </a:r>
            <a:r>
              <a:rPr lang="en-US" spc="-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30" dirty="0">
                <a:solidFill>
                  <a:srgbClr val="374552"/>
                </a:solidFill>
                <a:latin typeface="Verdana"/>
                <a:cs typeface="Verdana"/>
              </a:rPr>
              <a:t>skills</a:t>
            </a:r>
            <a:r>
              <a:rPr lang="en-US" spc="-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and</a:t>
            </a:r>
            <a:r>
              <a:rPr lang="en-US" spc="-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industry</a:t>
            </a:r>
            <a:r>
              <a:rPr lang="en-US" spc="-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demands.</a:t>
            </a:r>
            <a:endParaRPr lang="en-US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3500" spc="-50" dirty="0">
                <a:latin typeface="Tahoma"/>
                <a:cs typeface="Tahoma"/>
              </a:rPr>
              <a:t>Lack</a:t>
            </a:r>
            <a:r>
              <a:rPr lang="en-US" sz="3500" spc="-130" dirty="0">
                <a:latin typeface="Tahoma"/>
                <a:cs typeface="Tahoma"/>
              </a:rPr>
              <a:t> </a:t>
            </a:r>
            <a:r>
              <a:rPr lang="en-US" sz="3500" spc="-60" dirty="0">
                <a:latin typeface="Tahoma"/>
                <a:cs typeface="Tahoma"/>
              </a:rPr>
              <a:t>of</a:t>
            </a:r>
            <a:r>
              <a:rPr lang="en-US" sz="3500" spc="-125" dirty="0">
                <a:latin typeface="Tahoma"/>
                <a:cs typeface="Tahoma"/>
              </a:rPr>
              <a:t> </a:t>
            </a:r>
            <a:r>
              <a:rPr lang="en-US" sz="3500" spc="-10" dirty="0">
                <a:latin typeface="Tahoma"/>
                <a:cs typeface="Tahoma"/>
              </a:rPr>
              <a:t>Guidance</a:t>
            </a:r>
            <a:endParaRPr lang="en-US" sz="3500" dirty="0">
              <a:latin typeface="Tahoma"/>
              <a:cs typeface="Tahoma"/>
            </a:endParaRPr>
          </a:p>
          <a:p>
            <a:pPr marL="0" indent="0">
              <a:lnSpc>
                <a:spcPct val="100000"/>
              </a:lnSpc>
              <a:spcBef>
                <a:spcPts val="930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 Limited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 personalized </a:t>
            </a:r>
            <a:r>
              <a:rPr lang="en-US" spc="-20" dirty="0">
                <a:solidFill>
                  <a:srgbClr val="374552"/>
                </a:solidFill>
                <a:latin typeface="Verdana"/>
                <a:cs typeface="Verdana"/>
              </a:rPr>
              <a:t>career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counseling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 resources.</a:t>
            </a:r>
            <a:endParaRPr lang="en-US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3500" spc="-95" dirty="0">
                <a:latin typeface="Tahoma"/>
                <a:cs typeface="Tahoma"/>
              </a:rPr>
              <a:t>Rising</a:t>
            </a:r>
            <a:r>
              <a:rPr lang="en-US" sz="3500" spc="-105" dirty="0">
                <a:latin typeface="Tahoma"/>
                <a:cs typeface="Tahoma"/>
              </a:rPr>
              <a:t> </a:t>
            </a:r>
            <a:r>
              <a:rPr lang="en-US" sz="3500" spc="-40" dirty="0">
                <a:latin typeface="Tahoma"/>
                <a:cs typeface="Tahoma"/>
              </a:rPr>
              <a:t>Unemployment</a:t>
            </a:r>
            <a:endParaRPr lang="en-US" sz="3500" dirty="0">
              <a:latin typeface="Tahoma"/>
              <a:cs typeface="Tahoma"/>
            </a:endParaRPr>
          </a:p>
          <a:p>
            <a:pPr marL="0" indent="0">
              <a:lnSpc>
                <a:spcPct val="100000"/>
              </a:lnSpc>
              <a:spcBef>
                <a:spcPts val="930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 Qualified</a:t>
            </a:r>
            <a:r>
              <a:rPr lang="en-US" spc="-8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graduates</a:t>
            </a:r>
            <a:r>
              <a:rPr lang="en-US" spc="-7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struggle</a:t>
            </a:r>
            <a:r>
              <a:rPr lang="en-US" spc="-7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to</a:t>
            </a:r>
            <a:r>
              <a:rPr lang="en-US" spc="-7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find</a:t>
            </a:r>
            <a:r>
              <a:rPr lang="en-US" spc="-7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suitable</a:t>
            </a:r>
            <a:r>
              <a:rPr lang="en-US" spc="-8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employment.</a:t>
            </a:r>
            <a:endParaRPr lang="en-US" dirty="0">
              <a:latin typeface="Verdana"/>
              <a:cs typeface="Verdana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43059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B9A79-7AB3-8986-D4DA-0C76AFA53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u="sng" spc="-3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Our</a:t>
            </a:r>
            <a:r>
              <a:rPr lang="en-IN" sz="4000" u="sng" spc="-2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8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Solution:</a:t>
            </a:r>
            <a:r>
              <a:rPr lang="en-IN" sz="4000" u="sng" spc="-2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Edu2Job</a:t>
            </a:r>
            <a:endParaRPr lang="en-IN" sz="4000" u="sng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83709-DA40-E038-3DDB-30F6B03E7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2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AI-Driven</a:t>
            </a:r>
            <a:r>
              <a:rPr lang="en-US" sz="3200" spc="-6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Platform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955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Leveraging</a:t>
            </a:r>
            <a:r>
              <a:rPr lang="en-US" spc="-8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advanced</a:t>
            </a:r>
            <a:r>
              <a:rPr lang="en-US" spc="-7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6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AI</a:t>
            </a:r>
            <a:r>
              <a:rPr lang="en-US" spc="-8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2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</a:t>
            </a:r>
            <a:r>
              <a:rPr lang="en-US" spc="-7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precise</a:t>
            </a:r>
            <a:r>
              <a:rPr lang="en-US" spc="-7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predictions.</a:t>
            </a:r>
          </a:p>
          <a:p>
            <a:pPr marL="0" indent="0">
              <a:lnSpc>
                <a:spcPct val="100000"/>
              </a:lnSpc>
              <a:spcBef>
                <a:spcPts val="955"/>
              </a:spcBef>
              <a:buNone/>
            </a:pP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200" spc="-8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Personalized</a:t>
            </a:r>
            <a:r>
              <a:rPr lang="en-US" sz="3200" spc="-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Recommendations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955"/>
              </a:spcBef>
              <a:buNone/>
            </a:pPr>
            <a:r>
              <a:rPr lang="en-US" spc="-2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Tailored</a:t>
            </a:r>
            <a:r>
              <a:rPr lang="en-US" spc="-6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job</a:t>
            </a:r>
            <a:r>
              <a:rPr lang="en-US" spc="-5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2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roles</a:t>
            </a:r>
            <a:r>
              <a:rPr lang="en-US" spc="-5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based</a:t>
            </a:r>
            <a:r>
              <a:rPr lang="en-US" spc="-6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on</a:t>
            </a:r>
            <a:r>
              <a:rPr lang="en-US" spc="-5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individual</a:t>
            </a:r>
            <a:r>
              <a:rPr lang="en-US" spc="-5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profiles.</a:t>
            </a:r>
          </a:p>
          <a:p>
            <a:pPr marL="0" indent="0">
              <a:lnSpc>
                <a:spcPct val="100000"/>
              </a:lnSpc>
              <a:spcBef>
                <a:spcPts val="955"/>
              </a:spcBef>
              <a:buNone/>
            </a:pP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200" spc="-8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Skill</a:t>
            </a:r>
            <a:r>
              <a:rPr lang="en-US" sz="32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1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Gap </a:t>
            </a:r>
            <a:r>
              <a:rPr lang="en-US" sz="32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Analysis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955"/>
              </a:spcBef>
              <a:buNone/>
            </a:pPr>
            <a:r>
              <a:rPr lang="en-US" spc="-2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Clear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roadmaps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bridge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education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employment.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lnSpc>
                <a:spcPct val="100000"/>
              </a:lnSpc>
            </a:pP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lnSpc>
                <a:spcPct val="100000"/>
              </a:lnSpc>
              <a:spcBef>
                <a:spcPts val="290"/>
              </a:spcBef>
            </a:pP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IN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2461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4A00D-F423-F77A-657E-A571C81E8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" y="237744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u="sng" spc="-2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Key</a:t>
            </a:r>
            <a:r>
              <a:rPr lang="en-IN" sz="4000" u="sng" spc="-2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Objectives</a:t>
            </a:r>
            <a:r>
              <a:rPr lang="en-IN" sz="4000" u="sng" spc="-23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3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Achieved</a:t>
            </a:r>
            <a:endParaRPr lang="en-IN" sz="4000" u="sng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EC8D7D-E348-A704-250A-382082CF5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488" y="1508760"/>
            <a:ext cx="11466576" cy="5111496"/>
          </a:xfrm>
        </p:spPr>
        <p:txBody>
          <a:bodyPr>
            <a:noAutofit/>
          </a:bodyPr>
          <a:lstStyle/>
          <a:p>
            <a:r>
              <a:rPr lang="en-IN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Accurate ML Model</a:t>
            </a:r>
          </a:p>
          <a:p>
            <a:r>
              <a:rPr lang="en-IN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Intuitive User Interface</a:t>
            </a:r>
          </a:p>
          <a:p>
            <a:r>
              <a:rPr lang="en-IN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Secure Dual Authentication</a:t>
            </a:r>
          </a:p>
          <a:p>
            <a:r>
              <a:rPr lang="en-IN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Comprehensive Admin Dashboard</a:t>
            </a:r>
          </a:p>
          <a:p>
            <a:r>
              <a:rPr lang="en-IN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Model Retraining Capabilities</a:t>
            </a:r>
          </a:p>
          <a:p>
            <a:r>
              <a:rPr lang="en-IN" sz="3200" dirty="0">
                <a:solidFill>
                  <a:schemeClr val="tx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Personalized Career Insights</a:t>
            </a:r>
          </a:p>
        </p:txBody>
      </p:sp>
    </p:spTree>
    <p:extLst>
      <p:ext uri="{BB962C8B-B14F-4D97-AF65-F5344CB8AC3E}">
        <p14:creationId xmlns:p14="http://schemas.microsoft.com/office/powerpoint/2010/main" val="2148874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3F01-13A0-B8FD-B37D-A69CB85D2E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54761" y="538052"/>
            <a:ext cx="9144000" cy="588450"/>
          </a:xfrm>
        </p:spPr>
        <p:txBody>
          <a:bodyPr>
            <a:noAutofit/>
          </a:bodyPr>
          <a:lstStyle/>
          <a:p>
            <a:r>
              <a:rPr lang="en-IN" sz="4000" u="sng" spc="-229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Technology</a:t>
            </a:r>
            <a:r>
              <a:rPr lang="en-IN" sz="4000" u="sng" spc="-26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Architecture</a:t>
            </a:r>
            <a:endParaRPr lang="en-IN" sz="4000" u="sng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6F3CB2-14A8-BB33-6467-092E2A69DDFA}"/>
              </a:ext>
            </a:extLst>
          </p:cNvPr>
          <p:cNvSpPr txBox="1"/>
          <p:nvPr/>
        </p:nvSpPr>
        <p:spPr>
          <a:xfrm>
            <a:off x="969706" y="1327434"/>
            <a:ext cx="489506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spc="-65" dirty="0">
                <a:latin typeface="Tahoma"/>
                <a:cs typeface="Tahoma"/>
              </a:rPr>
              <a:t>Frontend</a:t>
            </a:r>
          </a:p>
          <a:p>
            <a:r>
              <a:rPr lang="en-US" sz="2400" spc="-65" dirty="0">
                <a:solidFill>
                  <a:schemeClr val="accent3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</a:t>
            </a:r>
            <a:r>
              <a:rPr lang="en-IN" sz="2400" dirty="0">
                <a:solidFill>
                  <a:schemeClr val="accent3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React (Vite) </a:t>
            </a:r>
          </a:p>
          <a:p>
            <a:r>
              <a:rPr lang="en-IN" sz="2400" dirty="0">
                <a:solidFill>
                  <a:schemeClr val="accent3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Tailwind CSS</a:t>
            </a:r>
          </a:p>
          <a:p>
            <a:r>
              <a:rPr lang="en-IN" sz="2400" dirty="0">
                <a:solidFill>
                  <a:schemeClr val="accent3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Framer Motion (Animations)</a:t>
            </a:r>
          </a:p>
          <a:p>
            <a:r>
              <a:rPr lang="en-IN" sz="2400" dirty="0">
                <a:solidFill>
                  <a:schemeClr val="accent3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Axios.</a:t>
            </a:r>
          </a:p>
          <a:p>
            <a:br>
              <a:rPr lang="en-IN" sz="3200" dirty="0"/>
            </a:br>
            <a:endParaRPr lang="en-US" sz="3200" dirty="0">
              <a:latin typeface="Tahoma"/>
              <a:cs typeface="Tahom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22A272-461B-5F13-86D2-59F4452CFE7A}"/>
              </a:ext>
            </a:extLst>
          </p:cNvPr>
          <p:cNvSpPr txBox="1"/>
          <p:nvPr/>
        </p:nvSpPr>
        <p:spPr>
          <a:xfrm>
            <a:off x="932792" y="3576937"/>
            <a:ext cx="5126294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200" spc="-45" dirty="0">
                <a:latin typeface="Tahoma"/>
                <a:cs typeface="Tahoma"/>
              </a:rPr>
              <a:t>Backend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2800" dirty="0"/>
              <a:t>   </a:t>
            </a:r>
            <a:r>
              <a:rPr lang="en-IN" sz="2400" dirty="0">
                <a:solidFill>
                  <a:schemeClr val="bg2">
                    <a:lumMod val="2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Django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2400" dirty="0">
                <a:solidFill>
                  <a:schemeClr val="bg2">
                    <a:lumMod val="2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 Django REST Framework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en-US" sz="3200" dirty="0">
              <a:latin typeface="Tahoma"/>
              <a:cs typeface="Tahom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1C8151-276D-02B4-A3CF-13291EE5B3A7}"/>
              </a:ext>
            </a:extLst>
          </p:cNvPr>
          <p:cNvSpPr txBox="1"/>
          <p:nvPr/>
        </p:nvSpPr>
        <p:spPr>
          <a:xfrm>
            <a:off x="7203529" y="1191568"/>
            <a:ext cx="3580085" cy="1528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it-IT" sz="3200" spc="-305" dirty="0">
                <a:latin typeface="Tahoma"/>
                <a:cs typeface="Tahoma"/>
              </a:rPr>
              <a:t>AI/ML</a:t>
            </a:r>
            <a:endParaRPr lang="it-IT" sz="3200" dirty="0">
              <a:latin typeface="Tahoma"/>
              <a:cs typeface="Tahoma"/>
            </a:endParaRPr>
          </a:p>
          <a:p>
            <a:pPr marL="273050">
              <a:lnSpc>
                <a:spcPct val="100000"/>
              </a:lnSpc>
              <a:spcBef>
                <a:spcPts val="1585"/>
              </a:spcBef>
            </a:pPr>
            <a:r>
              <a:rPr lang="it-IT" sz="2400" spc="-10" dirty="0">
                <a:solidFill>
                  <a:srgbClr val="374552"/>
                </a:solidFill>
                <a:latin typeface="Verdana"/>
                <a:cs typeface="Verdana"/>
              </a:rPr>
              <a:t>Scikit-</a:t>
            </a:r>
            <a:r>
              <a:rPr lang="it-IT" sz="2400" dirty="0">
                <a:solidFill>
                  <a:srgbClr val="374552"/>
                </a:solidFill>
                <a:latin typeface="Verdana"/>
                <a:cs typeface="Verdana"/>
              </a:rPr>
              <a:t>learn</a:t>
            </a:r>
            <a:r>
              <a:rPr lang="it-IT" sz="2400" spc="2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it-IT" sz="2400" dirty="0">
                <a:solidFill>
                  <a:srgbClr val="374552"/>
                </a:solidFill>
                <a:latin typeface="Verdana"/>
                <a:cs typeface="Verdana"/>
              </a:rPr>
              <a:t>(Random</a:t>
            </a:r>
            <a:r>
              <a:rPr lang="it-IT" sz="2400" spc="2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it-IT" sz="2400" spc="-10" dirty="0">
                <a:solidFill>
                  <a:srgbClr val="374552"/>
                </a:solidFill>
                <a:latin typeface="Verdana"/>
                <a:cs typeface="Verdana"/>
              </a:rPr>
              <a:t>Forest)</a:t>
            </a:r>
            <a:endParaRPr lang="it-IT" sz="2400" dirty="0">
              <a:latin typeface="Verdana"/>
              <a:cs typeface="Verdan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0330D1-195E-7B13-DE81-C031EB3FF2DE}"/>
              </a:ext>
            </a:extLst>
          </p:cNvPr>
          <p:cNvSpPr txBox="1"/>
          <p:nvPr/>
        </p:nvSpPr>
        <p:spPr>
          <a:xfrm>
            <a:off x="7203529" y="2861187"/>
            <a:ext cx="4055679" cy="1791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200" spc="-10" dirty="0">
                <a:latin typeface="Tahoma"/>
                <a:cs typeface="Tahoma"/>
              </a:rPr>
              <a:t>Security</a:t>
            </a:r>
            <a:endParaRPr lang="en-US" sz="3200" dirty="0">
              <a:latin typeface="Tahoma"/>
              <a:cs typeface="Tahoma"/>
            </a:endParaRPr>
          </a:p>
          <a:p>
            <a:pPr marL="273050" marR="5080" indent="-635">
              <a:lnSpc>
                <a:spcPct val="165000"/>
              </a:lnSpc>
              <a:spcBef>
                <a:spcPts val="610"/>
              </a:spcBef>
            </a:pPr>
            <a:r>
              <a:rPr lang="en-US" sz="2400" spc="65" dirty="0">
                <a:solidFill>
                  <a:srgbClr val="374552"/>
                </a:solidFill>
                <a:latin typeface="Verdana"/>
                <a:cs typeface="Verdana"/>
              </a:rPr>
              <a:t>JWT</a:t>
            </a:r>
            <a:r>
              <a:rPr lang="en-US" sz="2400" spc="-9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z="2400" spc="-10" dirty="0">
                <a:solidFill>
                  <a:srgbClr val="374552"/>
                </a:solidFill>
                <a:latin typeface="Verdana"/>
                <a:cs typeface="Verdana"/>
              </a:rPr>
              <a:t>Authentication </a:t>
            </a:r>
            <a:r>
              <a:rPr lang="en-US" sz="2400" dirty="0">
                <a:solidFill>
                  <a:srgbClr val="374552"/>
                </a:solidFill>
                <a:latin typeface="Verdana"/>
                <a:cs typeface="Verdana"/>
              </a:rPr>
              <a:t>Google</a:t>
            </a:r>
            <a:r>
              <a:rPr lang="en-US" sz="2400" spc="-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z="2400" spc="55" dirty="0">
                <a:solidFill>
                  <a:srgbClr val="374552"/>
                </a:solidFill>
                <a:latin typeface="Verdana"/>
                <a:cs typeface="Verdana"/>
              </a:rPr>
              <a:t>OAuth</a:t>
            </a:r>
            <a:r>
              <a:rPr lang="en-US" sz="2400" spc="-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z="2400" spc="-25" dirty="0">
                <a:solidFill>
                  <a:srgbClr val="374552"/>
                </a:solidFill>
                <a:latin typeface="Verdana"/>
                <a:cs typeface="Verdana"/>
              </a:rPr>
              <a:t>2.0</a:t>
            </a:r>
            <a:endParaRPr lang="en-US" sz="2400" dirty="0">
              <a:latin typeface="Verdana"/>
              <a:cs typeface="Verdan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5287A8-63E3-27BB-2E25-D1ACD71289A8}"/>
              </a:ext>
            </a:extLst>
          </p:cNvPr>
          <p:cNvSpPr txBox="1"/>
          <p:nvPr/>
        </p:nvSpPr>
        <p:spPr>
          <a:xfrm>
            <a:off x="7203529" y="4984864"/>
            <a:ext cx="288732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Database</a:t>
            </a:r>
          </a:p>
          <a:p>
            <a:r>
              <a:rPr lang="en-IN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</a:t>
            </a:r>
            <a:r>
              <a:rPr lang="en-IN" sz="2800" dirty="0">
                <a:solidFill>
                  <a:schemeClr val="accent3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MySQL (Cloud).</a:t>
            </a:r>
            <a:endParaRPr lang="en-US" sz="4400" dirty="0">
              <a:solidFill>
                <a:schemeClr val="accent3">
                  <a:lumMod val="50000"/>
                </a:schemeClr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IN" sz="2800" dirty="0">
              <a:solidFill>
                <a:schemeClr val="tx1">
                  <a:lumMod val="65000"/>
                  <a:lumOff val="35000"/>
                </a:schemeClr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DEC63D-0F8F-5130-804D-30F21FF0ED8D}"/>
              </a:ext>
            </a:extLst>
          </p:cNvPr>
          <p:cNvSpPr txBox="1"/>
          <p:nvPr/>
        </p:nvSpPr>
        <p:spPr>
          <a:xfrm>
            <a:off x="1051560" y="5383118"/>
            <a:ext cx="471830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Integration: </a:t>
            </a:r>
          </a:p>
          <a:p>
            <a:r>
              <a:rPr lang="en-IN" sz="2400" dirty="0">
                <a:solidFill>
                  <a:schemeClr val="accent3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n8n (Workflow Automation).</a:t>
            </a:r>
          </a:p>
        </p:txBody>
      </p:sp>
    </p:spTree>
    <p:extLst>
      <p:ext uri="{BB962C8B-B14F-4D97-AF65-F5344CB8AC3E}">
        <p14:creationId xmlns:p14="http://schemas.microsoft.com/office/powerpoint/2010/main" val="3855161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488C5-D469-CBC6-6D9B-E954D9AB2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u="sng" spc="-18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Milestone 1: User</a:t>
            </a:r>
            <a:r>
              <a:rPr lang="en-IN" sz="4000" u="sng" spc="-27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Authentication</a:t>
            </a:r>
            <a:r>
              <a:rPr lang="en-IN" sz="4000" u="sng" spc="-2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2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&amp;</a:t>
            </a:r>
            <a:r>
              <a:rPr lang="en-IN" sz="4000" u="sng" spc="-27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Profile </a:t>
            </a:r>
            <a:r>
              <a:rPr lang="en-IN" sz="4000" u="sng" spc="-2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Management</a:t>
            </a:r>
            <a:endParaRPr lang="en-IN" sz="4000" u="sng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80363-6F11-8CE2-D2DB-64CB137DD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200" spc="-70" dirty="0">
                <a:latin typeface="Tahoma"/>
                <a:cs typeface="Tahoma"/>
              </a:rPr>
              <a:t>Secure</a:t>
            </a:r>
            <a:r>
              <a:rPr lang="en-US" sz="3200" spc="-95" dirty="0">
                <a:latin typeface="Tahoma"/>
                <a:cs typeface="Tahoma"/>
              </a:rPr>
              <a:t> </a:t>
            </a:r>
            <a:r>
              <a:rPr lang="en-US" sz="3200" spc="-20" dirty="0">
                <a:latin typeface="Tahoma"/>
                <a:cs typeface="Tahoma"/>
              </a:rPr>
              <a:t>Onboarding</a:t>
            </a:r>
            <a:endParaRPr lang="en-US" sz="3200" dirty="0">
              <a:latin typeface="Tahoma"/>
              <a:cs typeface="Tahoma"/>
            </a:endParaRPr>
          </a:p>
          <a:p>
            <a:pPr marL="0" marR="5080" indent="0">
              <a:lnSpc>
                <a:spcPct val="140000"/>
              </a:lnSpc>
              <a:spcBef>
                <a:spcPts val="445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 Robust</a:t>
            </a:r>
            <a:r>
              <a:rPr lang="en-US" spc="1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registration</a:t>
            </a:r>
            <a:r>
              <a:rPr lang="en-US" spc="1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50" dirty="0">
                <a:solidFill>
                  <a:srgbClr val="374552"/>
                </a:solidFill>
                <a:latin typeface="Verdana"/>
                <a:cs typeface="Verdana"/>
              </a:rPr>
              <a:t>and</a:t>
            </a:r>
            <a:r>
              <a:rPr lang="en-US" spc="1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20" dirty="0">
                <a:solidFill>
                  <a:srgbClr val="374552"/>
                </a:solidFill>
                <a:latin typeface="Verdana"/>
                <a:cs typeface="Verdana"/>
              </a:rPr>
              <a:t>login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processes.</a:t>
            </a:r>
            <a:endParaRPr lang="en-US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200" spc="-80" dirty="0">
                <a:latin typeface="Tahoma"/>
                <a:cs typeface="Tahoma"/>
              </a:rPr>
              <a:t>Profile</a:t>
            </a:r>
            <a:r>
              <a:rPr lang="en-US" sz="3200" spc="-95" dirty="0">
                <a:latin typeface="Tahoma"/>
                <a:cs typeface="Tahoma"/>
              </a:rPr>
              <a:t> </a:t>
            </a:r>
            <a:r>
              <a:rPr lang="en-US" sz="3200" spc="-10" dirty="0">
                <a:latin typeface="Tahoma"/>
                <a:cs typeface="Tahoma"/>
              </a:rPr>
              <a:t>Creation</a:t>
            </a:r>
            <a:endParaRPr lang="en-US" sz="3200" dirty="0">
              <a:latin typeface="Tahoma"/>
              <a:cs typeface="Tahoma"/>
            </a:endParaRPr>
          </a:p>
          <a:p>
            <a:pPr marL="0" marR="5080" indent="0">
              <a:lnSpc>
                <a:spcPct val="137500"/>
              </a:lnSpc>
              <a:spcBef>
                <a:spcPts val="484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 Users</a:t>
            </a:r>
            <a:r>
              <a:rPr lang="en-US" spc="-9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50" dirty="0">
                <a:solidFill>
                  <a:srgbClr val="374552"/>
                </a:solidFill>
                <a:latin typeface="Verdana"/>
                <a:cs typeface="Verdana"/>
              </a:rPr>
              <a:t>build</a:t>
            </a:r>
            <a:r>
              <a:rPr lang="en-US" spc="-9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comprehensive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personal</a:t>
            </a:r>
            <a:r>
              <a:rPr lang="en-US" spc="-2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50" dirty="0">
                <a:solidFill>
                  <a:srgbClr val="374552"/>
                </a:solidFill>
                <a:latin typeface="Verdana"/>
                <a:cs typeface="Verdana"/>
              </a:rPr>
              <a:t>and</a:t>
            </a:r>
            <a:r>
              <a:rPr lang="en-US" spc="-2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35" dirty="0">
                <a:solidFill>
                  <a:srgbClr val="374552"/>
                </a:solidFill>
                <a:latin typeface="Verdana"/>
                <a:cs typeface="Verdana"/>
              </a:rPr>
              <a:t>academic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profiles.</a:t>
            </a:r>
            <a:endParaRPr lang="en-US" sz="3200" dirty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lang="en-US" sz="3200" spc="-130" dirty="0">
                <a:latin typeface="Tahoma"/>
                <a:cs typeface="Tahoma"/>
              </a:rPr>
              <a:t>Data</a:t>
            </a:r>
            <a:r>
              <a:rPr lang="en-US" sz="3200" spc="-125" dirty="0">
                <a:latin typeface="Tahoma"/>
                <a:cs typeface="Tahoma"/>
              </a:rPr>
              <a:t> </a:t>
            </a:r>
            <a:r>
              <a:rPr lang="en-US" sz="3200" spc="-10" dirty="0">
                <a:latin typeface="Tahoma"/>
                <a:cs typeface="Tahoma"/>
              </a:rPr>
              <a:t>Privacy</a:t>
            </a:r>
            <a:endParaRPr lang="en-US" sz="3200" dirty="0">
              <a:latin typeface="Tahoma"/>
              <a:cs typeface="Tahoma"/>
            </a:endParaRPr>
          </a:p>
          <a:p>
            <a:pPr marL="0" indent="0">
              <a:lnSpc>
                <a:spcPct val="100000"/>
              </a:lnSpc>
              <a:spcBef>
                <a:spcPts val="1045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 Ensuring</a:t>
            </a:r>
            <a:r>
              <a:rPr lang="en-US" spc="5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confidentiality</a:t>
            </a:r>
            <a:r>
              <a:rPr lang="en-US" spc="5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50" dirty="0">
                <a:solidFill>
                  <a:srgbClr val="374552"/>
                </a:solidFill>
                <a:latin typeface="Verdana"/>
                <a:cs typeface="Verdana"/>
              </a:rPr>
              <a:t>and</a:t>
            </a:r>
            <a:r>
              <a:rPr lang="en-US" spc="5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protection</a:t>
            </a:r>
            <a:r>
              <a:rPr lang="en-US" spc="5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of</a:t>
            </a:r>
            <a:r>
              <a:rPr lang="en-US" spc="5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user</a:t>
            </a:r>
            <a:r>
              <a:rPr lang="en-US" spc="5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data.</a:t>
            </a:r>
            <a:endParaRPr lang="en-US" dirty="0">
              <a:latin typeface="Verdana"/>
              <a:cs typeface="Verdana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4222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2991E-743B-57AC-F611-7696F0C65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u="sng" spc="-1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Milestone 2: Education</a:t>
            </a:r>
            <a:r>
              <a:rPr lang="en-US" sz="4000" u="sng" spc="-27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000" u="sng" spc="-20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Details</a:t>
            </a:r>
            <a:r>
              <a:rPr lang="en-US" sz="4000" u="sng" spc="-27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000" u="sng" spc="-3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Input</a:t>
            </a:r>
            <a:r>
              <a:rPr lang="en-US" sz="4000" u="sng" spc="-27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000" u="sng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&amp; </a:t>
            </a:r>
            <a:r>
              <a:rPr lang="en-US" sz="4000" u="sng" spc="-17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Preprocessing</a:t>
            </a:r>
            <a:r>
              <a:rPr lang="en-US" sz="4000" u="sng" spc="-18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4000" u="sng" spc="-3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Module</a:t>
            </a:r>
            <a:endParaRPr lang="en-IN" sz="4000" u="sng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825BE-813A-4AAD-C4DF-1DC9DAE52A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97509"/>
            <a:ext cx="10515600" cy="3979453"/>
          </a:xfrm>
        </p:spPr>
        <p:txBody>
          <a:bodyPr/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200" spc="-60" dirty="0">
                <a:latin typeface="Tahoma"/>
                <a:cs typeface="Tahoma"/>
              </a:rPr>
              <a:t>Academic</a:t>
            </a:r>
            <a:r>
              <a:rPr lang="en-US" sz="3200" spc="-120" dirty="0">
                <a:latin typeface="Tahoma"/>
                <a:cs typeface="Tahoma"/>
              </a:rPr>
              <a:t> </a:t>
            </a:r>
            <a:r>
              <a:rPr lang="en-US" sz="3200" spc="-130" dirty="0">
                <a:latin typeface="Tahoma"/>
                <a:cs typeface="Tahoma"/>
              </a:rPr>
              <a:t>Data</a:t>
            </a:r>
            <a:r>
              <a:rPr lang="en-US" sz="3200" spc="-114" dirty="0">
                <a:latin typeface="Tahoma"/>
                <a:cs typeface="Tahoma"/>
              </a:rPr>
              <a:t> </a:t>
            </a:r>
            <a:r>
              <a:rPr lang="en-US" sz="3200" spc="-10" dirty="0">
                <a:latin typeface="Tahoma"/>
                <a:cs typeface="Tahoma"/>
              </a:rPr>
              <a:t>Capture</a:t>
            </a:r>
            <a:endParaRPr lang="en-US" sz="3200" dirty="0">
              <a:latin typeface="Tahoma"/>
              <a:cs typeface="Tahoma"/>
            </a:endParaRPr>
          </a:p>
          <a:p>
            <a:pPr marL="0" marR="5080" indent="0">
              <a:lnSpc>
                <a:spcPct val="135000"/>
              </a:lnSpc>
              <a:spcBef>
                <a:spcPts val="520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 Structured</a:t>
            </a:r>
            <a:r>
              <a:rPr lang="en-US" spc="-2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50" dirty="0">
                <a:solidFill>
                  <a:srgbClr val="374552"/>
                </a:solidFill>
                <a:latin typeface="Verdana"/>
                <a:cs typeface="Verdana"/>
              </a:rPr>
              <a:t>input</a:t>
            </a:r>
            <a:r>
              <a:rPr lang="en-US" spc="-2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for</a:t>
            </a:r>
            <a:r>
              <a:rPr lang="en-US" spc="-2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courses, </a:t>
            </a:r>
            <a:r>
              <a:rPr lang="en-US" spc="-20" dirty="0">
                <a:solidFill>
                  <a:srgbClr val="374552"/>
                </a:solidFill>
                <a:latin typeface="Verdana"/>
                <a:cs typeface="Verdana"/>
              </a:rPr>
              <a:t>grades,</a:t>
            </a:r>
            <a:r>
              <a:rPr lang="en-US" spc="-8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50" dirty="0">
                <a:solidFill>
                  <a:srgbClr val="374552"/>
                </a:solidFill>
                <a:latin typeface="Verdana"/>
                <a:cs typeface="Verdana"/>
              </a:rPr>
              <a:t>and</a:t>
            </a:r>
            <a:r>
              <a:rPr lang="en-US" spc="-7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qualifications.</a:t>
            </a:r>
            <a:endParaRPr lang="en-US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200" spc="-130" dirty="0">
                <a:latin typeface="Tahoma"/>
                <a:cs typeface="Tahoma"/>
              </a:rPr>
              <a:t>Data</a:t>
            </a:r>
            <a:r>
              <a:rPr lang="en-US" sz="3200" spc="-125" dirty="0">
                <a:latin typeface="Tahoma"/>
                <a:cs typeface="Tahoma"/>
              </a:rPr>
              <a:t> </a:t>
            </a:r>
            <a:r>
              <a:rPr lang="en-US" sz="3200" spc="-10" dirty="0">
                <a:latin typeface="Tahoma"/>
                <a:cs typeface="Tahoma"/>
              </a:rPr>
              <a:t>Cleaning</a:t>
            </a:r>
            <a:endParaRPr lang="en-US" sz="3200" dirty="0">
              <a:latin typeface="Tahoma"/>
              <a:cs typeface="Tahoma"/>
            </a:endParaRPr>
          </a:p>
          <a:p>
            <a:pPr marL="0" marR="5080" indent="0">
              <a:lnSpc>
                <a:spcPct val="135000"/>
              </a:lnSpc>
              <a:spcBef>
                <a:spcPts val="520"/>
              </a:spcBef>
              <a:buNone/>
            </a:pPr>
            <a:r>
              <a:rPr lang="en-US" spc="45" dirty="0">
                <a:solidFill>
                  <a:srgbClr val="374552"/>
                </a:solidFill>
                <a:latin typeface="Verdana"/>
                <a:cs typeface="Verdana"/>
              </a:rPr>
              <a:t>  Automated</a:t>
            </a:r>
            <a:r>
              <a:rPr lang="en-US" spc="-7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processes</a:t>
            </a:r>
            <a:r>
              <a:rPr lang="en-US" spc="-6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25" dirty="0">
                <a:solidFill>
                  <a:srgbClr val="374552"/>
                </a:solidFill>
                <a:latin typeface="Verdana"/>
                <a:cs typeface="Verdana"/>
              </a:rPr>
              <a:t>for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consistency</a:t>
            </a:r>
            <a:r>
              <a:rPr lang="en-US" spc="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50" dirty="0">
                <a:solidFill>
                  <a:srgbClr val="374552"/>
                </a:solidFill>
                <a:latin typeface="Verdana"/>
                <a:cs typeface="Verdana"/>
              </a:rPr>
              <a:t>and</a:t>
            </a:r>
            <a:r>
              <a:rPr lang="en-US" spc="1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accuracy.</a:t>
            </a:r>
            <a:endParaRPr lang="en-US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200" spc="-100" dirty="0">
                <a:latin typeface="Tahoma"/>
                <a:cs typeface="Tahoma"/>
              </a:rPr>
              <a:t>Feature</a:t>
            </a:r>
            <a:r>
              <a:rPr lang="en-US" sz="3200" spc="-85" dirty="0">
                <a:latin typeface="Tahoma"/>
                <a:cs typeface="Tahoma"/>
              </a:rPr>
              <a:t> </a:t>
            </a:r>
            <a:r>
              <a:rPr lang="en-US" sz="3200" spc="-10" dirty="0">
                <a:latin typeface="Tahoma"/>
                <a:cs typeface="Tahoma"/>
              </a:rPr>
              <a:t>Engineering</a:t>
            </a:r>
            <a:endParaRPr lang="en-US" sz="3200" dirty="0">
              <a:latin typeface="Tahoma"/>
              <a:cs typeface="Tahoma"/>
            </a:endParaRPr>
          </a:p>
          <a:p>
            <a:pPr marL="0" indent="0">
              <a:lnSpc>
                <a:spcPct val="100000"/>
              </a:lnSpc>
              <a:spcBef>
                <a:spcPts val="1120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 Transforming</a:t>
            </a:r>
            <a:r>
              <a:rPr lang="en-US" spc="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raw</a:t>
            </a:r>
            <a:r>
              <a:rPr lang="en-US" spc="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data</a:t>
            </a:r>
            <a:r>
              <a:rPr lang="en-US" spc="4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into</a:t>
            </a:r>
            <a:r>
              <a:rPr lang="en-US" spc="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meaningful</a:t>
            </a:r>
            <a:r>
              <a:rPr lang="en-US" spc="35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105" dirty="0">
                <a:solidFill>
                  <a:srgbClr val="374552"/>
                </a:solidFill>
                <a:latin typeface="Verdana"/>
                <a:cs typeface="Verdana"/>
              </a:rPr>
              <a:t>ML</a:t>
            </a:r>
            <a:r>
              <a:rPr lang="en-US" spc="40" dirty="0">
                <a:solidFill>
                  <a:srgbClr val="374552"/>
                </a:solidFill>
                <a:latin typeface="Verdana"/>
                <a:cs typeface="Verdana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Verdana"/>
                <a:cs typeface="Verdana"/>
              </a:rPr>
              <a:t>features.</a:t>
            </a:r>
            <a:endParaRPr lang="en-US" dirty="0">
              <a:latin typeface="Verdana"/>
              <a:cs typeface="Verdana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95222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7DB0C-D5BB-AF4A-77E0-FC741C774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u="sng" spc="-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Milestone 3: Job</a:t>
            </a:r>
            <a:r>
              <a:rPr lang="en-IN" sz="4000" u="sng" spc="-27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2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Role</a:t>
            </a:r>
            <a:r>
              <a:rPr lang="en-IN" sz="4000" u="sng" spc="-27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7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Prediction</a:t>
            </a:r>
            <a:r>
              <a:rPr lang="en-IN" sz="4000" u="sng" spc="-26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3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Module</a:t>
            </a:r>
            <a:endParaRPr lang="en-IN" sz="4000" u="sng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1B2C6-71C0-8C70-A3C1-45950387F8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200" spc="-8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User</a:t>
            </a:r>
            <a:r>
              <a:rPr lang="en-US" sz="3200" spc="-1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1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</a:t>
            </a:r>
            <a:r>
              <a:rPr lang="en-US" sz="3200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Integration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1045"/>
              </a:spcBef>
              <a:buNone/>
            </a:pPr>
            <a:r>
              <a:rPr lang="en-US" spc="5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Feeding</a:t>
            </a:r>
            <a:r>
              <a:rPr lang="en-US" spc="-2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processed</a:t>
            </a:r>
            <a:r>
              <a:rPr lang="en-US" spc="-2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education</a:t>
            </a:r>
            <a:r>
              <a:rPr lang="en-US" spc="-1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5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and</a:t>
            </a:r>
            <a:r>
              <a:rPr lang="en-US" spc="-2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profile</a:t>
            </a:r>
            <a:r>
              <a:rPr lang="en-US" spc="-1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data.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85"/>
              </a:spcBef>
              <a:buNone/>
            </a:pP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3200" spc="-1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ML</a:t>
            </a:r>
            <a:r>
              <a:rPr lang="en-US" sz="3200" spc="-10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8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Prediction</a:t>
            </a:r>
            <a:r>
              <a:rPr lang="en-US" sz="3200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Engine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1120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Utilizing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6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Random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Forest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career</a:t>
            </a:r>
            <a:r>
              <a:rPr lang="en-US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forecasting.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85"/>
              </a:spcBef>
              <a:buNone/>
            </a:pP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>
              <a:lnSpc>
                <a:spcPct val="100000"/>
              </a:lnSpc>
            </a:pPr>
            <a:r>
              <a:rPr lang="en-US" sz="3200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Personalized</a:t>
            </a:r>
            <a:r>
              <a:rPr lang="en-US" sz="3200" spc="-6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Recommendations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1045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Generating</a:t>
            </a:r>
            <a:r>
              <a:rPr lang="en-US" spc="-3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relevant</a:t>
            </a:r>
            <a:r>
              <a:rPr lang="en-US" spc="-4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job</a:t>
            </a:r>
            <a:r>
              <a:rPr lang="en-US" spc="-3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role</a:t>
            </a:r>
            <a:r>
              <a:rPr lang="en-US" spc="-3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suggestions.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IN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732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CA196-E67B-8DA5-E839-9C3606389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spc="-2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Milestone 4: Admin</a:t>
            </a:r>
            <a:r>
              <a:rPr lang="en-IN" sz="4000" spc="-28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spc="-2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Dashboard</a:t>
            </a:r>
            <a:r>
              <a:rPr lang="en-IN" sz="4000" spc="-27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spc="-2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&amp;</a:t>
            </a:r>
            <a:r>
              <a:rPr lang="en-IN" sz="4000" spc="-27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Model </a:t>
            </a:r>
            <a:r>
              <a:rPr lang="en-IN" sz="4000" spc="-2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Management</a:t>
            </a:r>
            <a:endParaRPr lang="en-IN" sz="4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B6444-E8B5-E843-7A97-651A3A3F8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98450" marR="72390" indent="-285750">
              <a:lnSpc>
                <a:spcPct val="135000"/>
              </a:lnSpc>
              <a:spcBef>
                <a:spcPts val="90"/>
              </a:spcBef>
            </a:pPr>
            <a:r>
              <a:rPr lang="it-IT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User</a:t>
            </a:r>
            <a:r>
              <a:rPr lang="it-IT" spc="7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it-IT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Management</a:t>
            </a:r>
            <a:endParaRPr lang="it-IT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98450" marR="327025" indent="-285750">
              <a:lnSpc>
                <a:spcPct val="137500"/>
              </a:lnSpc>
              <a:spcBef>
                <a:spcPts val="415"/>
              </a:spcBef>
            </a:pPr>
            <a:r>
              <a:rPr lang="it-IT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</a:t>
            </a:r>
            <a:r>
              <a:rPr lang="it-IT" spc="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it-IT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Monitoring</a:t>
            </a:r>
          </a:p>
          <a:p>
            <a:pPr marL="298450" marR="327025" indent="-285750">
              <a:lnSpc>
                <a:spcPct val="137500"/>
              </a:lnSpc>
              <a:spcBef>
                <a:spcPts val="415"/>
              </a:spcBef>
            </a:pPr>
            <a:r>
              <a:rPr lang="it-IT" spc="6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Model</a:t>
            </a:r>
            <a:r>
              <a:rPr lang="it-IT" spc="-5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it-IT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Performance</a:t>
            </a:r>
            <a:endParaRPr lang="it-IT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98450" marR="21590" indent="-285750">
              <a:lnSpc>
                <a:spcPct val="135000"/>
              </a:lnSpc>
              <a:spcBef>
                <a:spcPts val="90"/>
              </a:spcBef>
            </a:pP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Retraining</a:t>
            </a:r>
            <a:r>
              <a:rPr lang="en-US" spc="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3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Control</a:t>
            </a:r>
          </a:p>
          <a:p>
            <a:pPr marL="298450" marR="21590" indent="-285750">
              <a:lnSpc>
                <a:spcPct val="135000"/>
              </a:lnSpc>
              <a:spcBef>
                <a:spcPts val="90"/>
              </a:spcBef>
            </a:pP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System</a:t>
            </a:r>
            <a:r>
              <a:rPr lang="en-US" spc="-5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2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Analytics</a:t>
            </a:r>
          </a:p>
          <a:p>
            <a:pPr marL="298450" marR="21590" indent="-285750">
              <a:lnSpc>
                <a:spcPct val="135000"/>
              </a:lnSpc>
              <a:spcBef>
                <a:spcPts val="90"/>
              </a:spcBef>
            </a:pP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Content</a:t>
            </a:r>
            <a:r>
              <a:rPr lang="en-US" spc="3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Updates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IN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9847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5C509-47C4-FFCF-37E9-238104FE4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u="sng" spc="-20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Performance</a:t>
            </a:r>
            <a:r>
              <a:rPr lang="en-IN" sz="4000" u="sng" spc="-2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Metrics</a:t>
            </a:r>
            <a:endParaRPr lang="en-IN" sz="4000" u="sng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0BFE52-9D1E-BFDC-43DA-9DDD8EA26D1D}"/>
              </a:ext>
            </a:extLst>
          </p:cNvPr>
          <p:cNvSpPr txBox="1"/>
          <p:nvPr/>
        </p:nvSpPr>
        <p:spPr>
          <a:xfrm>
            <a:off x="426720" y="2185416"/>
            <a:ext cx="2636520" cy="2834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lang="en-US" sz="5400" b="1" spc="-83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95%</a:t>
            </a:r>
            <a:endParaRPr lang="en-US" sz="5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ctr">
              <a:lnSpc>
                <a:spcPct val="100000"/>
              </a:lnSpc>
              <a:spcBef>
                <a:spcPts val="1335"/>
              </a:spcBef>
            </a:pPr>
            <a:r>
              <a:rPr lang="en-US" sz="2400" b="1" spc="-8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Prediction</a:t>
            </a:r>
            <a:r>
              <a:rPr lang="en-US" sz="2400" b="1" spc="-7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400" b="1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Accuracy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065" marR="5080" algn="ctr">
              <a:lnSpc>
                <a:spcPct val="135000"/>
              </a:lnSpc>
              <a:spcBef>
                <a:spcPts val="520"/>
              </a:spcBef>
            </a:pPr>
            <a:r>
              <a:rPr lang="en-US" sz="16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Highly reliable</a:t>
            </a:r>
            <a:r>
              <a:rPr lang="en-US" sz="1600" spc="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6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career</a:t>
            </a:r>
            <a:r>
              <a:rPr lang="en-US" sz="1600" spc="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600" spc="-2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path </a:t>
            </a:r>
            <a:r>
              <a:rPr lang="en-US" sz="1600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suggestions.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IN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BAB954-C72E-4D8F-FEAE-7CE00FB862A0}"/>
              </a:ext>
            </a:extLst>
          </p:cNvPr>
          <p:cNvSpPr txBox="1"/>
          <p:nvPr/>
        </p:nvSpPr>
        <p:spPr>
          <a:xfrm>
            <a:off x="3273552" y="2185416"/>
            <a:ext cx="2636520" cy="24652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lang="en-US" sz="5400" b="1" spc="-14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&lt;</a:t>
            </a:r>
            <a:r>
              <a:rPr lang="en-US" sz="5400" b="1" spc="-38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5400" b="1" spc="-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2s</a:t>
            </a:r>
            <a:endParaRPr lang="en-US" sz="5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ctr">
              <a:lnSpc>
                <a:spcPct val="100000"/>
              </a:lnSpc>
              <a:spcBef>
                <a:spcPts val="1335"/>
              </a:spcBef>
            </a:pPr>
            <a:r>
              <a:rPr lang="en-US" sz="2400" b="1" spc="-8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Response</a:t>
            </a:r>
            <a:r>
              <a:rPr lang="en-US" sz="2400" b="1" spc="-10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400" b="1" spc="-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Time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 marR="5080" algn="ctr">
              <a:lnSpc>
                <a:spcPct val="135000"/>
              </a:lnSpc>
              <a:spcBef>
                <a:spcPts val="520"/>
              </a:spcBef>
            </a:pPr>
            <a:r>
              <a:rPr lang="en-US" sz="1600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Instant</a:t>
            </a:r>
            <a:r>
              <a:rPr lang="en-US" sz="1600" spc="5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6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feedback</a:t>
            </a:r>
            <a:r>
              <a:rPr lang="en-US" sz="1600" spc="6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600" spc="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and </a:t>
            </a:r>
            <a:r>
              <a:rPr lang="en-US" sz="1600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recommendations.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IN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4187A8-8E97-E693-20A1-7B00A43A7EC6}"/>
              </a:ext>
            </a:extLst>
          </p:cNvPr>
          <p:cNvSpPr txBox="1"/>
          <p:nvPr/>
        </p:nvSpPr>
        <p:spPr>
          <a:xfrm>
            <a:off x="6096000" y="2185416"/>
            <a:ext cx="2834640" cy="2834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lang="en-US" sz="5400" b="1" spc="-3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4.</a:t>
            </a:r>
            <a:r>
              <a:rPr lang="en-US" sz="5400" b="1" spc="-88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7</a:t>
            </a:r>
            <a:r>
              <a:rPr lang="en-US" sz="5400" b="1" spc="-35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/</a:t>
            </a:r>
            <a:r>
              <a:rPr lang="en-US" sz="5400" b="1" spc="-3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5</a:t>
            </a:r>
            <a:endParaRPr lang="en-US" sz="5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ctr">
              <a:lnSpc>
                <a:spcPct val="100000"/>
              </a:lnSpc>
              <a:spcBef>
                <a:spcPts val="1335"/>
              </a:spcBef>
            </a:pPr>
            <a:r>
              <a:rPr lang="en-US" sz="2400" b="1" spc="-8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User</a:t>
            </a:r>
            <a:r>
              <a:rPr lang="en-US" sz="2400" b="1" spc="-9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400" b="1" spc="-1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Interface</a:t>
            </a:r>
            <a:r>
              <a:rPr lang="en-US" sz="2400" b="1" spc="-8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400" b="1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Score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065" marR="5080" algn="ctr">
              <a:lnSpc>
                <a:spcPct val="135000"/>
              </a:lnSpc>
              <a:spcBef>
                <a:spcPts val="520"/>
              </a:spcBef>
            </a:pPr>
            <a:r>
              <a:rPr lang="en-US" sz="16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Exceptional</a:t>
            </a:r>
            <a:r>
              <a:rPr lang="en-US" sz="1600" spc="4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6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usability</a:t>
            </a:r>
            <a:r>
              <a:rPr lang="en-US" sz="1600" spc="4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600" spc="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and </a:t>
            </a:r>
            <a:r>
              <a:rPr lang="en-US" sz="1600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satisfaction.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IN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F4EBC7-8BC3-876A-9A1E-648962BA3628}"/>
              </a:ext>
            </a:extLst>
          </p:cNvPr>
          <p:cNvSpPr txBox="1"/>
          <p:nvPr/>
        </p:nvSpPr>
        <p:spPr>
          <a:xfrm>
            <a:off x="9357360" y="2185416"/>
            <a:ext cx="2834640" cy="24927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lang="en-US" sz="5400" b="1" spc="-6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99.9%</a:t>
            </a:r>
            <a:endParaRPr lang="en-US" sz="5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ctr">
              <a:lnSpc>
                <a:spcPct val="100000"/>
              </a:lnSpc>
              <a:spcBef>
                <a:spcPts val="1335"/>
              </a:spcBef>
            </a:pPr>
            <a:r>
              <a:rPr lang="en-US" sz="2400" b="1" spc="-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System</a:t>
            </a:r>
            <a:r>
              <a:rPr lang="en-US" sz="2400" b="1" spc="-114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2400" b="1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Uptime</a:t>
            </a: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065" marR="5080" algn="ctr">
              <a:lnSpc>
                <a:spcPct val="135000"/>
              </a:lnSpc>
              <a:spcBef>
                <a:spcPts val="520"/>
              </a:spcBef>
            </a:pPr>
            <a:r>
              <a:rPr lang="en-US" sz="16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Consistent </a:t>
            </a:r>
            <a:r>
              <a:rPr lang="en-US" sz="1600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availability</a:t>
            </a:r>
            <a:r>
              <a:rPr lang="en-US" sz="16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600" spc="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and </a:t>
            </a:r>
            <a:r>
              <a:rPr lang="en-US" sz="1600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reliability.</a:t>
            </a: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IN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10272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932FE-DF4C-B6E2-6BEE-1AAEF26CF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000" u="sng" spc="-229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Future </a:t>
            </a:r>
            <a:r>
              <a:rPr lang="en-IN" sz="4000" u="sng" spc="-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Enhancements:</a:t>
            </a:r>
            <a:r>
              <a:rPr lang="en-IN" sz="4000" u="sng" spc="-229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IN" sz="4000" u="sng" spc="-14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Scaling </a:t>
            </a:r>
            <a:r>
              <a:rPr lang="en-IN" sz="4000" u="sng" spc="-29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Impact</a:t>
            </a:r>
            <a:endParaRPr lang="en-IN" sz="4000" u="sng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783335-3802-00B5-03AF-3D391D61F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3500" spc="-110" dirty="0">
                <a:latin typeface="Tahoma"/>
                <a:cs typeface="Tahoma"/>
              </a:rPr>
              <a:t>Mobile</a:t>
            </a:r>
            <a:r>
              <a:rPr lang="en-US" sz="3500" spc="-150" dirty="0">
                <a:latin typeface="Tahoma"/>
                <a:cs typeface="Tahoma"/>
              </a:rPr>
              <a:t> </a:t>
            </a:r>
            <a:r>
              <a:rPr lang="en-US" sz="3500" spc="-10" dirty="0">
                <a:latin typeface="Tahoma"/>
                <a:cs typeface="Tahoma"/>
              </a:rPr>
              <a:t>Application</a:t>
            </a:r>
            <a:endParaRPr lang="en-US" sz="3500" dirty="0">
              <a:latin typeface="Tahoma"/>
              <a:cs typeface="Tahoma"/>
            </a:endParaRPr>
          </a:p>
          <a:p>
            <a:pPr marL="0" indent="0">
              <a:lnSpc>
                <a:spcPct val="100000"/>
              </a:lnSpc>
              <a:spcBef>
                <a:spcPts val="1120"/>
              </a:spcBef>
              <a:buNone/>
            </a:pPr>
            <a:r>
              <a:rPr lang="en-US" sz="30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Reach</a:t>
            </a:r>
            <a:r>
              <a:rPr lang="en-US" sz="3000" spc="8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0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</a:t>
            </a:r>
            <a:r>
              <a:rPr lang="en-US" sz="3000" spc="9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0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wider</a:t>
            </a:r>
            <a:r>
              <a:rPr lang="en-US" sz="3000" spc="8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0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audience</a:t>
            </a:r>
            <a:r>
              <a:rPr lang="en-US" sz="3000" spc="9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00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on-the-</a:t>
            </a:r>
            <a:r>
              <a:rPr lang="en-US" sz="3000" spc="-2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go.</a:t>
            </a:r>
            <a:endParaRPr lang="en-US" sz="3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85"/>
              </a:spcBef>
              <a:buNone/>
            </a:pP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3200" spc="-8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Advanced</a:t>
            </a:r>
            <a:r>
              <a:rPr lang="en-US" sz="3200" spc="-125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14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ML</a:t>
            </a:r>
            <a:r>
              <a:rPr lang="en-US" sz="3200" spc="-12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3200" spc="-1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Models</a:t>
            </a:r>
            <a:endParaRPr lang="en-US" sz="32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1045"/>
              </a:spcBef>
              <a:buNone/>
            </a:pPr>
            <a:r>
              <a:rPr lang="en-US" dirty="0">
                <a:solidFill>
                  <a:srgbClr val="374552"/>
                </a:solidFill>
                <a:latin typeface="Verdana"/>
                <a:cs typeface="Verdana"/>
              </a:rPr>
              <a:t> 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Integration</a:t>
            </a:r>
            <a:r>
              <a:rPr lang="en-US" spc="-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of</a:t>
            </a:r>
            <a:r>
              <a:rPr lang="en-US" spc="-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Neural</a:t>
            </a:r>
            <a:r>
              <a:rPr lang="en-US" spc="-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Networks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</a:t>
            </a:r>
            <a:r>
              <a:rPr lang="en-US" spc="-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deeper</a:t>
            </a:r>
            <a:r>
              <a:rPr lang="en-US" spc="-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insights.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85"/>
              </a:spcBef>
              <a:buNone/>
            </a:pPr>
            <a:endParaRPr lang="en-US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lang="en-US" sz="3200" spc="-120" dirty="0">
                <a:latin typeface="Tahoma"/>
                <a:cs typeface="Tahoma"/>
              </a:rPr>
              <a:t>Company</a:t>
            </a:r>
            <a:r>
              <a:rPr lang="en-US" sz="3200" spc="-105" dirty="0">
                <a:latin typeface="Tahoma"/>
                <a:cs typeface="Tahoma"/>
              </a:rPr>
              <a:t> </a:t>
            </a:r>
            <a:r>
              <a:rPr lang="en-US" sz="3200" spc="-10" dirty="0">
                <a:latin typeface="Tahoma"/>
                <a:cs typeface="Tahoma"/>
              </a:rPr>
              <a:t>Partnerships</a:t>
            </a:r>
            <a:endParaRPr lang="en-US" sz="3200" dirty="0">
              <a:latin typeface="Tahoma"/>
              <a:cs typeface="Tahoma"/>
            </a:endParaRPr>
          </a:p>
          <a:p>
            <a:pPr marL="0" indent="0">
              <a:lnSpc>
                <a:spcPct val="100000"/>
              </a:lnSpc>
              <a:spcBef>
                <a:spcPts val="1120"/>
              </a:spcBef>
              <a:buNone/>
            </a:pPr>
            <a:r>
              <a:rPr lang="en-US" spc="4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Connecting</a:t>
            </a:r>
            <a:r>
              <a:rPr lang="en-US" spc="-1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users</a:t>
            </a:r>
            <a:r>
              <a:rPr lang="en-US" spc="-1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directly</a:t>
            </a:r>
            <a:r>
              <a:rPr lang="en-US" spc="-1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with</a:t>
            </a:r>
            <a:r>
              <a:rPr lang="en-US" spc="-15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pc="-10" dirty="0">
                <a:solidFill>
                  <a:srgbClr val="37455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employers.</a:t>
            </a:r>
            <a:endParaRPr lang="en-US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72148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EABA5AD-2629-5B77-7461-DA65F37554F3}"/>
              </a:ext>
            </a:extLst>
          </p:cNvPr>
          <p:cNvSpPr txBox="1"/>
          <p:nvPr/>
        </p:nvSpPr>
        <p:spPr>
          <a:xfrm>
            <a:off x="2724912" y="2505670"/>
            <a:ext cx="70591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5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      Thank You </a:t>
            </a:r>
            <a:endParaRPr lang="en-IN" sz="5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17277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du2Job.potx" id="{B6CE1275-8AF4-4AEE-B56D-11D1F67E7BD6}" vid="{9512BED3-6C1B-4792-B96B-B300FC0D546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Edu2Job</Template>
  <TotalTime>39</TotalTime>
  <Words>402</Words>
  <Application>Microsoft Office PowerPoint</Application>
  <PresentationFormat>Widescreen</PresentationFormat>
  <Paragraphs>102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Tahoma</vt:lpstr>
      <vt:lpstr>Verdana</vt:lpstr>
      <vt:lpstr>Office Theme</vt:lpstr>
      <vt:lpstr>Edu2Job: Predicting Job Roles from Educational Background</vt:lpstr>
      <vt:lpstr>The Problem: Navigating Career Uncertainty</vt:lpstr>
      <vt:lpstr>Our Solution: Edu2Job</vt:lpstr>
      <vt:lpstr>Key Objectives Achieved</vt:lpstr>
      <vt:lpstr>Technology Architecture</vt:lpstr>
      <vt:lpstr>Milestone 1: User Authentication &amp; Profile Management</vt:lpstr>
      <vt:lpstr>Milestone 2: Education Details Input &amp; Preprocessing Module</vt:lpstr>
      <vt:lpstr>Milestone 3: Job Role Prediction Module</vt:lpstr>
      <vt:lpstr>Milestone 4: Admin Dashboard &amp; Model Management</vt:lpstr>
      <vt:lpstr>Performance Metrics</vt:lpstr>
      <vt:lpstr>Future Enhancements: Scaling Impact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Harini M</dc:creator>
  <cp:lastModifiedBy>Harini M</cp:lastModifiedBy>
  <cp:revision>2</cp:revision>
  <dcterms:created xsi:type="dcterms:W3CDTF">2026-01-18T14:37:56Z</dcterms:created>
  <dcterms:modified xsi:type="dcterms:W3CDTF">2026-01-18T15:17:54Z</dcterms:modified>
</cp:coreProperties>
</file>