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83" r:id="rId8"/>
    <p:sldId id="276" r:id="rId9"/>
    <p:sldId id="281" r:id="rId10"/>
    <p:sldId id="282" r:id="rId11"/>
    <p:sldId id="264" r:id="rId12"/>
    <p:sldId id="277" r:id="rId13"/>
    <p:sldId id="284" r:id="rId14"/>
    <p:sldId id="285" r:id="rId15"/>
    <p:sldId id="286" r:id="rId16"/>
    <p:sldId id="267" r:id="rId17"/>
    <p:sldId id="278" r:id="rId18"/>
    <p:sldId id="279" r:id="rId19"/>
    <p:sldId id="287" r:id="rId20"/>
    <p:sldId id="288" r:id="rId21"/>
    <p:sldId id="269" r:id="rId22"/>
    <p:sldId id="280" r:id="rId23"/>
    <p:sldId id="289" r:id="rId24"/>
    <p:sldId id="290" r:id="rId25"/>
    <p:sldId id="291" r:id="rId26"/>
    <p:sldId id="273" r:id="rId27"/>
    <p:sldId id="274" r:id="rId28"/>
    <p:sldId id="275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FBD4D0-239C-45FC-844B-A7E01E0CC938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50F29B-E061-4A94-844B-90530497D6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6326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50F29B-E061-4A94-844B-90530497D680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74231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50F29B-E061-4A94-844B-90530497D680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78151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50F29B-E061-4A94-844B-90530497D680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2998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6AC02-4688-8F34-5233-46824543E8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22819B-6203-E35F-58F5-8720E589E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599AE-8DFB-C2A7-5663-FB3729EED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36570-D847-480A-AAD4-6B02C674D222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2730D-3BFA-748A-A6B3-65B64607A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55CC3-0C0F-6403-F949-035CD4DBD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89B98-D6FE-445A-B54C-1E2BE22817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435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06CC1-D842-73F2-E26B-506C9DDA5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DA05E-EAB5-D6A0-DE8E-AEB60319D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B0CDBF-2DCC-4758-D20B-A4763F983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36570-D847-480A-AAD4-6B02C674D222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7B0104-190C-ACE2-05DA-0F1D4AD35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57562C-BB5C-895B-15EF-A2C32E02E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89B98-D6FE-445A-B54C-1E2BE22817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0858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357A6-762A-1032-4F54-5DB5D479D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3A6BC6-C95B-34AF-FEC8-0EEEC36676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6FFE73-C005-BF9F-BC4A-649420ED8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36570-D847-480A-AAD4-6B02C674D222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C1D991-DDCD-EC45-4B8B-279657FBC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0069C1-DC71-F6DA-B098-963FA1532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89B98-D6FE-445A-B54C-1E2BE22817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0657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8B5AC-DB3E-8B80-E6BC-32308330C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7CB7A-0643-0CAA-48B9-2179530C03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96EB0F-91F3-96F2-4D6D-68DA09685D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6D5434-9752-16EB-0E82-9A5649EF7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36570-D847-480A-AAD4-6B02C674D222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951E74-7A0D-7A29-5174-2453FF8AA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317EDA-D621-F802-F145-65935013D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89B98-D6FE-445A-B54C-1E2BE22817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8794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D844D-4C2F-8FC5-CFDE-2E3EA53BB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6EE415-AE3C-0AD1-8104-B2661BFD60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8EE413-90E1-6C3B-21E9-F41743A560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040E17-182C-E0A4-28A5-E3434FCDCA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69BE6E-E931-B75C-1FF5-F201E6667C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A9A705-92EC-25B8-8683-E0C6177A1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36570-D847-480A-AAD4-6B02C674D222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01DB4D-0F30-690D-193A-8A410560E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B29EB7-AA59-EF8E-2A56-E063A0BB0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89B98-D6FE-445A-B54C-1E2BE22817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2228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77E7A-7C9F-865F-6152-D5E320559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722A5B-E99D-791A-81F4-BA81E7315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36570-D847-480A-AAD4-6B02C674D222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7FABDC-1125-C73F-73AC-412F3C385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9A5280-A6B5-A5DD-E69E-9F795A04C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89B98-D6FE-445A-B54C-1E2BE22817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1480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F45361-01F3-F6AD-2858-95365E397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36570-D847-480A-AAD4-6B02C674D222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46A62A-DA4C-5FF7-2001-931381EBC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67EDBE-0E62-16E1-8735-E4E180D3A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89B98-D6FE-445A-B54C-1E2BE22817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5782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50332-E7D8-04B1-49C5-760FA803F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63A86-2DA4-F979-A41E-3836FFA144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F6E3C8-757C-3765-AAE2-16DD5DCCFE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6E5B67-0942-EF1A-E060-5F6010535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36570-D847-480A-AAD4-6B02C674D222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78560-5EF7-9720-24F6-2FF40D946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B4C667-61BD-C484-201B-A439EFD7D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89B98-D6FE-445A-B54C-1E2BE22817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7916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9449A-A167-5F6E-802D-71CEA156F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993E92-5766-5FBA-1F9A-E4559D2097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7636A8-9B87-66BB-7EA6-25AF67F5F1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3C20D0-212A-CC71-4408-A4F5BB03E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36570-D847-480A-AAD4-6B02C674D222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D68A72-094C-C316-25D5-4EB51B92D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9676F3-3991-34C8-9D4C-E09F2CBAC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89B98-D6FE-445A-B54C-1E2BE22817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5015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F00BA-B387-54FD-3F81-32B0C32D1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811FAC-EFF6-E0AD-9FF0-DD3E416422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4B7-9B65-8BFE-A15A-694BAC35F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36570-D847-480A-AAD4-6B02C674D222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ADCD65-7E3B-A345-C242-DEA130375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991F36-8F72-A712-96AF-FD856CC00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89B98-D6FE-445A-B54C-1E2BE22817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5100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68681D-3792-9346-7252-7CFBC6DA13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691447-6A7D-57F0-B5AF-BC8EA9561C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3C9AF6-7681-B452-AE5E-11FB0F29A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36570-D847-480A-AAD4-6B02C674D222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7A8A38-A6E3-A980-4AD2-8AC987FC6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761E3-4977-F6FE-0B4D-940BFB56E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89B98-D6FE-445A-B54C-1E2BE22817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425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70EC1D-83F4-2520-CDF7-EADA559F8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20FD7B-5F20-2DB4-2037-563A3D9D6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FB0E68-7AE1-872D-71EC-61D142D33E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E36570-D847-480A-AAD4-6B02C674D222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4BB21-FA08-3862-AD7B-5D7A6D153E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BEED5-0C23-64AA-E6FA-B1AF6537EF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A89B98-D6FE-445A-B54C-1E2BE22817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326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3DEE2-F581-BBBA-2D0B-527FC245BB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969" y="1142798"/>
            <a:ext cx="11823031" cy="619173"/>
          </a:xfrm>
        </p:spPr>
        <p:txBody>
          <a:bodyPr>
            <a:normAutofit fontScale="90000"/>
          </a:bodyPr>
          <a:lstStyle/>
          <a:p>
            <a:r>
              <a:rPr lang="en-US" sz="3600" spc="-125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Edu2Job:</a:t>
            </a:r>
            <a:r>
              <a:rPr lang="en-US" sz="3600" spc="-254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 Predicting Job Roles from Educational Background</a:t>
            </a:r>
            <a:endParaRPr lang="en-IN" sz="3600" dirty="0">
              <a:solidFill>
                <a:schemeClr val="tx1">
                  <a:lumMod val="95000"/>
                  <a:lumOff val="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2F5512-7D1C-2D88-20CD-2F08151931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8569" y="1908867"/>
            <a:ext cx="9034862" cy="477640"/>
          </a:xfrm>
        </p:spPr>
        <p:txBody>
          <a:bodyPr>
            <a:normAutofit/>
          </a:bodyPr>
          <a:lstStyle/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BATCH - 10</a:t>
            </a:r>
            <a:endParaRPr lang="en-IN" dirty="0">
              <a:latin typeface="Verdana" panose="020B0604030504040204" pitchFamily="34" charset="0"/>
              <a:ea typeface="Verdan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7AB8D4-74CA-C6B7-B98A-5CF11CAEDDC1}"/>
              </a:ext>
            </a:extLst>
          </p:cNvPr>
          <p:cNvSpPr txBox="1"/>
          <p:nvPr/>
        </p:nvSpPr>
        <p:spPr>
          <a:xfrm>
            <a:off x="5869858" y="4429919"/>
            <a:ext cx="58846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                      </a:t>
            </a:r>
            <a:endParaRPr lang="en-IN" sz="2800" b="1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CCB44A8-9DC2-A8BA-CC00-3132460EA2AA}"/>
              </a:ext>
            </a:extLst>
          </p:cNvPr>
          <p:cNvSpPr txBox="1">
            <a:spLocks/>
          </p:cNvSpPr>
          <p:nvPr/>
        </p:nvSpPr>
        <p:spPr>
          <a:xfrm>
            <a:off x="1524000" y="514775"/>
            <a:ext cx="9144000" cy="52322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INFOSYS SPRINGBOARD INTERNSHIP 6.0</a:t>
            </a:r>
            <a:endParaRPr lang="en-IN" sz="3200" u="sng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0FB19CE3-86FF-BBA0-C724-9AAE7B49B7FF}"/>
              </a:ext>
            </a:extLst>
          </p:cNvPr>
          <p:cNvSpPr txBox="1">
            <a:spLocks/>
          </p:cNvSpPr>
          <p:nvPr/>
        </p:nvSpPr>
        <p:spPr>
          <a:xfrm>
            <a:off x="1524000" y="2717808"/>
            <a:ext cx="91440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Presented by</a:t>
            </a:r>
          </a:p>
          <a:p>
            <a:endParaRPr lang="en-IN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6BEDB54C-6299-E1B5-55E0-EF340308386A}"/>
              </a:ext>
            </a:extLst>
          </p:cNvPr>
          <p:cNvSpPr txBox="1">
            <a:spLocks/>
          </p:cNvSpPr>
          <p:nvPr/>
        </p:nvSpPr>
        <p:spPr>
          <a:xfrm>
            <a:off x="4306557" y="3278995"/>
            <a:ext cx="3578885" cy="2077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bg2">
                    <a:lumMod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Vivek Kumar</a:t>
            </a:r>
          </a:p>
          <a:p>
            <a:r>
              <a:rPr lang="en-US" sz="1800" dirty="0" err="1">
                <a:solidFill>
                  <a:schemeClr val="bg2">
                    <a:lumMod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Gyanaranjan</a:t>
            </a:r>
            <a:r>
              <a:rPr lang="en-US" sz="1800" dirty="0">
                <a:solidFill>
                  <a:schemeClr val="bg2">
                    <a:lumMod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Sahoo</a:t>
            </a:r>
          </a:p>
          <a:p>
            <a:r>
              <a:rPr lang="en-US" sz="1800" dirty="0">
                <a:solidFill>
                  <a:schemeClr val="bg2">
                    <a:lumMod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 Harini</a:t>
            </a:r>
          </a:p>
          <a:p>
            <a:r>
              <a:rPr lang="en-US" sz="1800" dirty="0">
                <a:solidFill>
                  <a:schemeClr val="bg2">
                    <a:lumMod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Soumalya Ganguly</a:t>
            </a:r>
          </a:p>
          <a:p>
            <a:r>
              <a:rPr lang="en-US" sz="1800" dirty="0">
                <a:solidFill>
                  <a:schemeClr val="bg2">
                    <a:lumMod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Kushwanth </a:t>
            </a:r>
            <a:r>
              <a:rPr lang="en-US" sz="1800" dirty="0" err="1">
                <a:solidFill>
                  <a:schemeClr val="bg2">
                    <a:lumMod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Nethi</a:t>
            </a:r>
            <a:endParaRPr lang="en-IN" sz="1800" dirty="0">
              <a:solidFill>
                <a:schemeClr val="bg2">
                  <a:lumMod val="2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200C2A95-6E6D-0D35-BB93-E562BD867978}"/>
              </a:ext>
            </a:extLst>
          </p:cNvPr>
          <p:cNvSpPr txBox="1">
            <a:spLocks/>
          </p:cNvSpPr>
          <p:nvPr/>
        </p:nvSpPr>
        <p:spPr>
          <a:xfrm>
            <a:off x="1523999" y="5640794"/>
            <a:ext cx="91440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Guided By</a:t>
            </a:r>
            <a:endParaRPr lang="en-IN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EE0C5D70-4481-7A37-9470-B25C6FFAAEDB}"/>
              </a:ext>
            </a:extLst>
          </p:cNvPr>
          <p:cNvSpPr txBox="1">
            <a:spLocks/>
          </p:cNvSpPr>
          <p:nvPr/>
        </p:nvSpPr>
        <p:spPr>
          <a:xfrm>
            <a:off x="1523999" y="6142030"/>
            <a:ext cx="9034862" cy="4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Dr Manju J R</a:t>
            </a:r>
            <a:endParaRPr lang="en-IN" dirty="0">
              <a:latin typeface="Verdana" panose="020B0604030504040204" pitchFamily="34" charset="0"/>
              <a:ea typeface="Verdan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6271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986BE-A8BE-AD95-13C6-99FA1634A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u="sng" spc="-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</a:t>
            </a:r>
            <a:r>
              <a:rPr lang="en-US" sz="4000" u="sng" spc="-25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u="sng" spc="-2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Problem:</a:t>
            </a:r>
            <a:r>
              <a:rPr lang="en-US" sz="4000" u="sng" spc="-25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u="sng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Navigating </a:t>
            </a:r>
            <a:r>
              <a:rPr lang="en-US" sz="4000" u="sng" spc="-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Career</a:t>
            </a:r>
            <a:r>
              <a:rPr lang="en-US" sz="4000" u="sng" spc="-26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u="sng" spc="-10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Uncertainty</a:t>
            </a:r>
            <a:endParaRPr lang="en-IN" sz="4000" u="sng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2CCBB-779F-D83C-FDF8-F49913AE1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999703"/>
          </a:xfrm>
        </p:spPr>
        <p:txBody>
          <a:bodyPr>
            <a:normAutofit fontScale="92500"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z="3500" spc="-9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Career </a:t>
            </a:r>
            <a:r>
              <a:rPr lang="en-US" sz="35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Confusion</a:t>
            </a:r>
            <a:endParaRPr lang="en-US" sz="3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marR="5080" indent="0">
              <a:lnSpc>
                <a:spcPct val="130800"/>
              </a:lnSpc>
              <a:spcBef>
                <a:spcPts val="555"/>
              </a:spcBef>
              <a:buNone/>
            </a:pPr>
            <a:r>
              <a:rPr lang="en-US" spc="-175" dirty="0">
                <a:solidFill>
                  <a:srgbClr val="374552"/>
                </a:solidFill>
                <a:latin typeface="Verdana"/>
                <a:cs typeface="Verdana"/>
              </a:rPr>
              <a:t>  75%</a:t>
            </a:r>
            <a:r>
              <a:rPr lang="en-US" spc="-8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lang="en-US" spc="-10" dirty="0">
                <a:solidFill>
                  <a:srgbClr val="374552"/>
                </a:solidFill>
                <a:latin typeface="Verdana"/>
                <a:cs typeface="Verdana"/>
              </a:rPr>
              <a:t>of</a:t>
            </a:r>
            <a:r>
              <a:rPr lang="en-US" spc="-7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lang="en-US" spc="-10" dirty="0">
                <a:solidFill>
                  <a:srgbClr val="374552"/>
                </a:solidFill>
                <a:latin typeface="Verdana"/>
                <a:cs typeface="Verdana"/>
              </a:rPr>
              <a:t>graduates</a:t>
            </a:r>
            <a:r>
              <a:rPr lang="en-US" spc="-8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lang="en-US" spc="-10" dirty="0">
                <a:solidFill>
                  <a:srgbClr val="374552"/>
                </a:solidFill>
                <a:latin typeface="Verdana"/>
                <a:cs typeface="Verdana"/>
              </a:rPr>
              <a:t>face</a:t>
            </a:r>
            <a:r>
              <a:rPr lang="en-US" spc="-7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lang="en-US" dirty="0">
                <a:solidFill>
                  <a:srgbClr val="374552"/>
                </a:solidFill>
                <a:latin typeface="Verdana"/>
                <a:cs typeface="Verdana"/>
              </a:rPr>
              <a:t>significant</a:t>
            </a:r>
            <a:r>
              <a:rPr lang="en-US" spc="-8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lang="en-US" spc="-10" dirty="0">
                <a:solidFill>
                  <a:srgbClr val="374552"/>
                </a:solidFill>
                <a:latin typeface="Verdana"/>
                <a:cs typeface="Verdana"/>
              </a:rPr>
              <a:t>uncertainty</a:t>
            </a:r>
            <a:r>
              <a:rPr lang="en-US" spc="-7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lang="en-US" dirty="0">
                <a:solidFill>
                  <a:srgbClr val="374552"/>
                </a:solidFill>
                <a:latin typeface="Verdana"/>
                <a:cs typeface="Verdana"/>
              </a:rPr>
              <a:t>about</a:t>
            </a:r>
            <a:r>
              <a:rPr lang="en-US" spc="-8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lang="en-US" spc="-10" dirty="0">
                <a:solidFill>
                  <a:srgbClr val="374552"/>
                </a:solidFill>
                <a:latin typeface="Verdana"/>
                <a:cs typeface="Verdana"/>
              </a:rPr>
              <a:t>their</a:t>
            </a:r>
            <a:r>
              <a:rPr lang="en-US" spc="-7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lang="en-US" spc="-10" dirty="0">
                <a:solidFill>
                  <a:srgbClr val="374552"/>
                </a:solidFill>
                <a:latin typeface="Verdana"/>
                <a:cs typeface="Verdana"/>
              </a:rPr>
              <a:t>career paths.</a:t>
            </a:r>
            <a:endParaRPr lang="en-US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z="3500" spc="-85" dirty="0">
                <a:latin typeface="Tahoma"/>
                <a:cs typeface="Tahoma"/>
              </a:rPr>
              <a:t>Skill</a:t>
            </a:r>
            <a:r>
              <a:rPr lang="en-US" sz="3500" spc="-120" dirty="0">
                <a:latin typeface="Tahoma"/>
                <a:cs typeface="Tahoma"/>
              </a:rPr>
              <a:t> </a:t>
            </a:r>
            <a:r>
              <a:rPr lang="en-US" sz="3500" spc="-25" dirty="0">
                <a:latin typeface="Tahoma"/>
                <a:cs typeface="Tahoma"/>
              </a:rPr>
              <a:t>Gap</a:t>
            </a:r>
            <a:endParaRPr lang="en-US" sz="3500" dirty="0">
              <a:latin typeface="Tahoma"/>
              <a:cs typeface="Tahoma"/>
            </a:endParaRPr>
          </a:p>
          <a:p>
            <a:pPr marL="0" indent="0">
              <a:lnSpc>
                <a:spcPct val="100000"/>
              </a:lnSpc>
              <a:spcBef>
                <a:spcPts val="120"/>
              </a:spcBef>
              <a:buNone/>
            </a:pPr>
            <a:r>
              <a:rPr lang="en-US" sz="3600" b="1" spc="-25" dirty="0">
                <a:solidFill>
                  <a:srgbClr val="374552"/>
                </a:solidFill>
                <a:latin typeface="Tahoma"/>
                <a:cs typeface="Tahoma"/>
              </a:rPr>
              <a:t>  </a:t>
            </a:r>
            <a:r>
              <a:rPr lang="en-US" spc="-25" dirty="0">
                <a:solidFill>
                  <a:srgbClr val="374552"/>
                </a:solidFill>
                <a:latin typeface="Verdana"/>
                <a:cs typeface="Verdana"/>
              </a:rPr>
              <a:t>Disparity</a:t>
            </a:r>
            <a:r>
              <a:rPr lang="en-US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lang="en-US" dirty="0">
                <a:solidFill>
                  <a:srgbClr val="374552"/>
                </a:solidFill>
                <a:latin typeface="Verdana"/>
                <a:cs typeface="Verdana"/>
              </a:rPr>
              <a:t>between</a:t>
            </a:r>
            <a:r>
              <a:rPr lang="en-US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lang="en-US" dirty="0">
                <a:solidFill>
                  <a:srgbClr val="374552"/>
                </a:solidFill>
                <a:latin typeface="Verdana"/>
                <a:cs typeface="Verdana"/>
              </a:rPr>
              <a:t>academic</a:t>
            </a:r>
            <a:r>
              <a:rPr lang="en-US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lang="en-US" spc="-30" dirty="0">
                <a:solidFill>
                  <a:srgbClr val="374552"/>
                </a:solidFill>
                <a:latin typeface="Verdana"/>
                <a:cs typeface="Verdana"/>
              </a:rPr>
              <a:t>skills</a:t>
            </a:r>
            <a:r>
              <a:rPr lang="en-US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lang="en-US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lang="en-US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lang="en-US" spc="-10" dirty="0">
                <a:solidFill>
                  <a:srgbClr val="374552"/>
                </a:solidFill>
                <a:latin typeface="Verdana"/>
                <a:cs typeface="Verdana"/>
              </a:rPr>
              <a:t>industry</a:t>
            </a:r>
            <a:r>
              <a:rPr lang="en-US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lang="en-US" spc="-10" dirty="0">
                <a:solidFill>
                  <a:srgbClr val="374552"/>
                </a:solidFill>
                <a:latin typeface="Verdana"/>
                <a:cs typeface="Verdana"/>
              </a:rPr>
              <a:t>demands.</a:t>
            </a:r>
            <a:endParaRPr lang="en-US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z="3500" spc="-50" dirty="0">
                <a:latin typeface="Tahoma"/>
                <a:cs typeface="Tahoma"/>
              </a:rPr>
              <a:t>Lack</a:t>
            </a:r>
            <a:r>
              <a:rPr lang="en-US" sz="3500" spc="-130" dirty="0">
                <a:latin typeface="Tahoma"/>
                <a:cs typeface="Tahoma"/>
              </a:rPr>
              <a:t> </a:t>
            </a:r>
            <a:r>
              <a:rPr lang="en-US" sz="3500" spc="-60" dirty="0">
                <a:latin typeface="Tahoma"/>
                <a:cs typeface="Tahoma"/>
              </a:rPr>
              <a:t>of</a:t>
            </a:r>
            <a:r>
              <a:rPr lang="en-US" sz="3500" spc="-125" dirty="0">
                <a:latin typeface="Tahoma"/>
                <a:cs typeface="Tahoma"/>
              </a:rPr>
              <a:t> </a:t>
            </a:r>
            <a:r>
              <a:rPr lang="en-US" sz="3500" spc="-10" dirty="0">
                <a:latin typeface="Tahoma"/>
                <a:cs typeface="Tahoma"/>
              </a:rPr>
              <a:t>Guidance</a:t>
            </a:r>
            <a:endParaRPr lang="en-US" sz="3500" dirty="0">
              <a:latin typeface="Tahoma"/>
              <a:cs typeface="Tahoma"/>
            </a:endParaRPr>
          </a:p>
          <a:p>
            <a:pPr marL="0" indent="0">
              <a:lnSpc>
                <a:spcPct val="100000"/>
              </a:lnSpc>
              <a:spcBef>
                <a:spcPts val="930"/>
              </a:spcBef>
              <a:buNone/>
            </a:pPr>
            <a:r>
              <a:rPr lang="en-US" dirty="0">
                <a:solidFill>
                  <a:srgbClr val="374552"/>
                </a:solidFill>
                <a:latin typeface="Verdana"/>
                <a:cs typeface="Verdana"/>
              </a:rPr>
              <a:t>  Limited</a:t>
            </a:r>
            <a:r>
              <a:rPr lang="en-US" spc="-10" dirty="0">
                <a:solidFill>
                  <a:srgbClr val="374552"/>
                </a:solidFill>
                <a:latin typeface="Verdana"/>
                <a:cs typeface="Verdana"/>
              </a:rPr>
              <a:t> personalized </a:t>
            </a:r>
            <a:r>
              <a:rPr lang="en-US" spc="-20" dirty="0">
                <a:solidFill>
                  <a:srgbClr val="374552"/>
                </a:solidFill>
                <a:latin typeface="Verdana"/>
                <a:cs typeface="Verdana"/>
              </a:rPr>
              <a:t>career</a:t>
            </a:r>
            <a:r>
              <a:rPr lang="en-US" spc="-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lang="en-US" dirty="0">
                <a:solidFill>
                  <a:srgbClr val="374552"/>
                </a:solidFill>
                <a:latin typeface="Verdana"/>
                <a:cs typeface="Verdana"/>
              </a:rPr>
              <a:t>counseling</a:t>
            </a:r>
            <a:r>
              <a:rPr lang="en-US" spc="-10" dirty="0">
                <a:solidFill>
                  <a:srgbClr val="374552"/>
                </a:solidFill>
                <a:latin typeface="Verdana"/>
                <a:cs typeface="Verdana"/>
              </a:rPr>
              <a:t> resources.</a:t>
            </a:r>
            <a:endParaRPr lang="en-US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z="3500" spc="-95" dirty="0">
                <a:latin typeface="Tahoma"/>
                <a:cs typeface="Tahoma"/>
              </a:rPr>
              <a:t>Rising</a:t>
            </a:r>
            <a:r>
              <a:rPr lang="en-US" sz="3500" spc="-105" dirty="0">
                <a:latin typeface="Tahoma"/>
                <a:cs typeface="Tahoma"/>
              </a:rPr>
              <a:t> </a:t>
            </a:r>
            <a:r>
              <a:rPr lang="en-US" sz="3500" spc="-40" dirty="0">
                <a:latin typeface="Tahoma"/>
                <a:cs typeface="Tahoma"/>
              </a:rPr>
              <a:t>Unemployment</a:t>
            </a:r>
            <a:endParaRPr lang="en-US" sz="3500" dirty="0">
              <a:latin typeface="Tahoma"/>
              <a:cs typeface="Tahoma"/>
            </a:endParaRPr>
          </a:p>
          <a:p>
            <a:pPr marL="0" indent="0">
              <a:lnSpc>
                <a:spcPct val="100000"/>
              </a:lnSpc>
              <a:spcBef>
                <a:spcPts val="930"/>
              </a:spcBef>
              <a:buNone/>
            </a:pPr>
            <a:r>
              <a:rPr lang="en-US" dirty="0">
                <a:solidFill>
                  <a:srgbClr val="374552"/>
                </a:solidFill>
                <a:latin typeface="Verdana"/>
                <a:cs typeface="Verdana"/>
              </a:rPr>
              <a:t>  Qualified</a:t>
            </a:r>
            <a:r>
              <a:rPr lang="en-US" spc="-8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lang="en-US" spc="-10" dirty="0">
                <a:solidFill>
                  <a:srgbClr val="374552"/>
                </a:solidFill>
                <a:latin typeface="Verdana"/>
                <a:cs typeface="Verdana"/>
              </a:rPr>
              <a:t>graduates</a:t>
            </a:r>
            <a:r>
              <a:rPr lang="en-US" spc="-7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lang="en-US" dirty="0">
                <a:solidFill>
                  <a:srgbClr val="374552"/>
                </a:solidFill>
                <a:latin typeface="Verdana"/>
                <a:cs typeface="Verdana"/>
              </a:rPr>
              <a:t>struggle</a:t>
            </a:r>
            <a:r>
              <a:rPr lang="en-US" spc="-7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lang="en-US" dirty="0">
                <a:solidFill>
                  <a:srgbClr val="374552"/>
                </a:solidFill>
                <a:latin typeface="Verdana"/>
                <a:cs typeface="Verdana"/>
              </a:rPr>
              <a:t>to</a:t>
            </a:r>
            <a:r>
              <a:rPr lang="en-US" spc="-7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lang="en-US" dirty="0">
                <a:solidFill>
                  <a:srgbClr val="374552"/>
                </a:solidFill>
                <a:latin typeface="Verdana"/>
                <a:cs typeface="Verdana"/>
              </a:rPr>
              <a:t>find</a:t>
            </a:r>
            <a:r>
              <a:rPr lang="en-US" spc="-7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lang="en-US" spc="-10" dirty="0">
                <a:solidFill>
                  <a:srgbClr val="374552"/>
                </a:solidFill>
                <a:latin typeface="Verdana"/>
                <a:cs typeface="Verdana"/>
              </a:rPr>
              <a:t>suitable</a:t>
            </a:r>
            <a:r>
              <a:rPr lang="en-US" spc="-8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lang="en-US" spc="-10" dirty="0">
                <a:solidFill>
                  <a:srgbClr val="374552"/>
                </a:solidFill>
                <a:latin typeface="Verdana"/>
                <a:cs typeface="Verdana"/>
              </a:rPr>
              <a:t>employment.</a:t>
            </a:r>
            <a:endParaRPr lang="en-US" dirty="0">
              <a:latin typeface="Verdana"/>
              <a:cs typeface="Verdana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4305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B9A79-7AB3-8986-D4DA-0C76AFA53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u="sng" spc="-3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Our</a:t>
            </a:r>
            <a:r>
              <a:rPr lang="en-IN" sz="4000" u="sng" spc="-26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N" sz="4000" u="sng" spc="-18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Solution:</a:t>
            </a:r>
            <a:r>
              <a:rPr lang="en-IN" sz="4000" u="sng" spc="-26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N" sz="4000" u="sng" spc="-1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Edu2Job</a:t>
            </a:r>
            <a:endParaRPr lang="en-IN" sz="4000" u="sng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83709-DA40-E038-3DDB-30F6B03E79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3200" spc="-1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AI-Driven</a:t>
            </a:r>
            <a:r>
              <a:rPr lang="en-US" sz="3200" spc="-6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32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Platform</a:t>
            </a: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955"/>
              </a:spcBef>
              <a:buNone/>
            </a:pPr>
            <a:r>
              <a:rPr lang="en-US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Leveraging</a:t>
            </a:r>
            <a:r>
              <a:rPr lang="en-US" spc="-80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advanced</a:t>
            </a:r>
            <a:r>
              <a:rPr lang="en-US" spc="-75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pc="-65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AI</a:t>
            </a:r>
            <a:r>
              <a:rPr lang="en-US" spc="-80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pc="-20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</a:t>
            </a:r>
            <a:r>
              <a:rPr lang="en-US" spc="-75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precise</a:t>
            </a:r>
            <a:r>
              <a:rPr lang="en-US" spc="-75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pc="-10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predictions.</a:t>
            </a:r>
          </a:p>
          <a:p>
            <a:pPr marL="0" indent="0">
              <a:lnSpc>
                <a:spcPct val="100000"/>
              </a:lnSpc>
              <a:spcBef>
                <a:spcPts val="955"/>
              </a:spcBef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3200" spc="-8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Personalized</a:t>
            </a:r>
            <a:r>
              <a:rPr lang="en-US" sz="3200" spc="-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3200" spc="-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Recommendations</a:t>
            </a: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955"/>
              </a:spcBef>
              <a:buNone/>
            </a:pPr>
            <a:r>
              <a:rPr lang="en-US" spc="-20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Tailored</a:t>
            </a:r>
            <a:r>
              <a:rPr lang="en-US" spc="-60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job</a:t>
            </a:r>
            <a:r>
              <a:rPr lang="en-US" spc="-55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pc="-20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roles</a:t>
            </a:r>
            <a:r>
              <a:rPr lang="en-US" spc="-55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based</a:t>
            </a:r>
            <a:r>
              <a:rPr lang="en-US" spc="-60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</a:t>
            </a:r>
            <a:r>
              <a:rPr lang="en-US" spc="-55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individual</a:t>
            </a:r>
            <a:r>
              <a:rPr lang="en-US" spc="-55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pc="-10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profiles.</a:t>
            </a:r>
          </a:p>
          <a:p>
            <a:pPr marL="0" indent="0">
              <a:lnSpc>
                <a:spcPct val="100000"/>
              </a:lnSpc>
              <a:spcBef>
                <a:spcPts val="955"/>
              </a:spcBef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3200" spc="-8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Skill</a:t>
            </a:r>
            <a:r>
              <a:rPr lang="en-US" sz="3200" spc="-1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3200" spc="-1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Gap </a:t>
            </a:r>
            <a:r>
              <a:rPr lang="en-US" sz="32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Analysis</a:t>
            </a: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955"/>
              </a:spcBef>
              <a:buNone/>
            </a:pPr>
            <a:r>
              <a:rPr lang="en-US" spc="-20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Clear</a:t>
            </a:r>
            <a:r>
              <a:rPr lang="en-US" spc="-25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roadmaps</a:t>
            </a:r>
            <a:r>
              <a:rPr lang="en-US" spc="-25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</a:t>
            </a:r>
            <a:r>
              <a:rPr lang="en-US" spc="-25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bridge</a:t>
            </a:r>
            <a:r>
              <a:rPr lang="en-US" spc="-25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education</a:t>
            </a:r>
            <a:r>
              <a:rPr lang="en-US" spc="-25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</a:t>
            </a:r>
            <a:r>
              <a:rPr lang="en-US" spc="-25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pc="-10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employment.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00000"/>
              </a:lnSpc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IN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2461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4A00D-F423-F77A-657E-A571C81E8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488" y="237744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u="sng" spc="-26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Key</a:t>
            </a:r>
            <a:r>
              <a:rPr lang="en-IN" sz="4000" u="sng" spc="-24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N" sz="4000" u="sng" spc="-19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Objectives</a:t>
            </a:r>
            <a:r>
              <a:rPr lang="en-IN" sz="4000" u="sng" spc="-23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N" sz="4000" u="sng" spc="-13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Achieved</a:t>
            </a:r>
            <a:endParaRPr lang="en-IN" sz="4000" u="sng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C8D7D-E348-A704-250A-382082CF5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488" y="1508760"/>
            <a:ext cx="11466576" cy="5111496"/>
          </a:xfrm>
        </p:spPr>
        <p:txBody>
          <a:bodyPr>
            <a:noAutofit/>
          </a:bodyPr>
          <a:lstStyle/>
          <a:p>
            <a:r>
              <a:rPr lang="en-IN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Accurate ML Model</a:t>
            </a:r>
          </a:p>
          <a:p>
            <a:r>
              <a:rPr lang="en-IN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Intuitive User Interface</a:t>
            </a:r>
          </a:p>
          <a:p>
            <a:r>
              <a:rPr lang="en-IN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Secure Dual Authentication</a:t>
            </a:r>
          </a:p>
          <a:p>
            <a:r>
              <a:rPr lang="en-IN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Comprehensive Admin Dashboard</a:t>
            </a:r>
          </a:p>
          <a:p>
            <a:r>
              <a:rPr lang="en-IN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 Retraining Capabilities</a:t>
            </a:r>
          </a:p>
          <a:p>
            <a:r>
              <a:rPr lang="en-IN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Personalized Career Insights</a:t>
            </a:r>
          </a:p>
        </p:txBody>
      </p:sp>
    </p:spTree>
    <p:extLst>
      <p:ext uri="{BB962C8B-B14F-4D97-AF65-F5344CB8AC3E}">
        <p14:creationId xmlns:p14="http://schemas.microsoft.com/office/powerpoint/2010/main" val="2148874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D3F01-13A0-B8FD-B37D-A69CB85D2E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154761" y="538052"/>
            <a:ext cx="9144000" cy="588450"/>
          </a:xfrm>
        </p:spPr>
        <p:txBody>
          <a:bodyPr>
            <a:noAutofit/>
          </a:bodyPr>
          <a:lstStyle/>
          <a:p>
            <a:r>
              <a:rPr lang="en-IN" sz="4000" u="sng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Technology</a:t>
            </a:r>
            <a:r>
              <a:rPr lang="en-IN" sz="4000" u="sng" spc="-26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N" sz="4000" u="sng" spc="-1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Architecture</a:t>
            </a:r>
            <a:endParaRPr lang="en-IN" sz="4000" u="sng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6F3CB2-14A8-BB33-6467-092E2A69DDFA}"/>
              </a:ext>
            </a:extLst>
          </p:cNvPr>
          <p:cNvSpPr txBox="1"/>
          <p:nvPr/>
        </p:nvSpPr>
        <p:spPr>
          <a:xfrm>
            <a:off x="969706" y="1327434"/>
            <a:ext cx="489506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spc="-65" dirty="0">
                <a:latin typeface="Tahoma"/>
                <a:cs typeface="Tahoma"/>
              </a:rPr>
              <a:t>Frontend</a:t>
            </a:r>
          </a:p>
          <a:p>
            <a:r>
              <a:rPr lang="en-US" sz="2400" spc="-65" dirty="0">
                <a:solidFill>
                  <a:schemeClr val="accent3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lang="en-IN" sz="2400" dirty="0">
                <a:solidFill>
                  <a:schemeClr val="accent3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React (Vite) </a:t>
            </a:r>
          </a:p>
          <a:p>
            <a:r>
              <a:rPr lang="en-IN" sz="2400" dirty="0">
                <a:solidFill>
                  <a:schemeClr val="accent3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Tailwind CSS</a:t>
            </a:r>
          </a:p>
          <a:p>
            <a:r>
              <a:rPr lang="en-IN" sz="2400" dirty="0">
                <a:solidFill>
                  <a:schemeClr val="accent3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Framer Motion (Animations)</a:t>
            </a:r>
          </a:p>
          <a:p>
            <a:r>
              <a:rPr lang="en-IN" sz="2400" dirty="0">
                <a:solidFill>
                  <a:schemeClr val="accent3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Axios.</a:t>
            </a:r>
          </a:p>
          <a:p>
            <a:br>
              <a:rPr lang="en-IN" sz="3200" dirty="0"/>
            </a:br>
            <a:endParaRPr lang="en-US" sz="3200" dirty="0">
              <a:latin typeface="Tahoma"/>
              <a:cs typeface="Tahom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22A272-461B-5F13-86D2-59F4452CFE7A}"/>
              </a:ext>
            </a:extLst>
          </p:cNvPr>
          <p:cNvSpPr txBox="1"/>
          <p:nvPr/>
        </p:nvSpPr>
        <p:spPr>
          <a:xfrm>
            <a:off x="932792" y="3576937"/>
            <a:ext cx="5126294" cy="1915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spc="-45" dirty="0">
                <a:latin typeface="Tahoma"/>
                <a:cs typeface="Tahoma"/>
              </a:rPr>
              <a:t>Backend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800" dirty="0"/>
              <a:t>   </a:t>
            </a:r>
            <a:r>
              <a:rPr lang="en-IN" sz="2400" dirty="0">
                <a:solidFill>
                  <a:schemeClr val="bg2">
                    <a:lumMod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Django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400" dirty="0">
                <a:solidFill>
                  <a:schemeClr val="bg2">
                    <a:lumMod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Django REST Framework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3200" dirty="0">
              <a:latin typeface="Tahoma"/>
              <a:cs typeface="Tahom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1C8151-276D-02B4-A3CF-13291EE5B3A7}"/>
              </a:ext>
            </a:extLst>
          </p:cNvPr>
          <p:cNvSpPr txBox="1"/>
          <p:nvPr/>
        </p:nvSpPr>
        <p:spPr>
          <a:xfrm>
            <a:off x="7203529" y="1191568"/>
            <a:ext cx="3580085" cy="1528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it-IT" sz="3200" spc="-305" dirty="0">
                <a:latin typeface="Tahoma"/>
                <a:cs typeface="Tahoma"/>
              </a:rPr>
              <a:t>AI/ML</a:t>
            </a:r>
            <a:endParaRPr lang="it-IT" sz="3200" dirty="0">
              <a:latin typeface="Tahoma"/>
              <a:cs typeface="Tahoma"/>
            </a:endParaRPr>
          </a:p>
          <a:p>
            <a:pPr marL="273050">
              <a:lnSpc>
                <a:spcPct val="100000"/>
              </a:lnSpc>
              <a:spcBef>
                <a:spcPts val="1585"/>
              </a:spcBef>
            </a:pPr>
            <a:r>
              <a:rPr lang="it-IT" sz="2400" spc="-10" dirty="0">
                <a:solidFill>
                  <a:srgbClr val="374552"/>
                </a:solidFill>
                <a:latin typeface="Verdana"/>
                <a:cs typeface="Verdana"/>
              </a:rPr>
              <a:t>Scikit-</a:t>
            </a:r>
            <a:r>
              <a:rPr lang="it-IT" sz="2400" dirty="0">
                <a:solidFill>
                  <a:srgbClr val="374552"/>
                </a:solidFill>
                <a:latin typeface="Verdana"/>
                <a:cs typeface="Verdana"/>
              </a:rPr>
              <a:t>learn</a:t>
            </a:r>
            <a:r>
              <a:rPr lang="it-IT" sz="2400" spc="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lang="it-IT" sz="2400" dirty="0">
                <a:solidFill>
                  <a:srgbClr val="374552"/>
                </a:solidFill>
                <a:latin typeface="Verdana"/>
                <a:cs typeface="Verdana"/>
              </a:rPr>
              <a:t>(Random</a:t>
            </a:r>
            <a:r>
              <a:rPr lang="it-IT" sz="2400" spc="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lang="it-IT" sz="2400" spc="-10" dirty="0">
                <a:solidFill>
                  <a:srgbClr val="374552"/>
                </a:solidFill>
                <a:latin typeface="Verdana"/>
                <a:cs typeface="Verdana"/>
              </a:rPr>
              <a:t>Forest)</a:t>
            </a:r>
            <a:endParaRPr lang="it-IT" sz="2400" dirty="0">
              <a:latin typeface="Verdana"/>
              <a:cs typeface="Verdan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0330D1-195E-7B13-DE81-C031EB3FF2DE}"/>
              </a:ext>
            </a:extLst>
          </p:cNvPr>
          <p:cNvSpPr txBox="1"/>
          <p:nvPr/>
        </p:nvSpPr>
        <p:spPr>
          <a:xfrm>
            <a:off x="7203529" y="2861187"/>
            <a:ext cx="4055679" cy="1791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spc="-10" dirty="0">
                <a:latin typeface="Tahoma"/>
                <a:cs typeface="Tahoma"/>
              </a:rPr>
              <a:t>Security</a:t>
            </a:r>
            <a:endParaRPr lang="en-US" sz="3200" dirty="0">
              <a:latin typeface="Tahoma"/>
              <a:cs typeface="Tahoma"/>
            </a:endParaRPr>
          </a:p>
          <a:p>
            <a:pPr marL="273050" marR="5080" indent="-635">
              <a:lnSpc>
                <a:spcPct val="165000"/>
              </a:lnSpc>
              <a:spcBef>
                <a:spcPts val="610"/>
              </a:spcBef>
            </a:pPr>
            <a:r>
              <a:rPr lang="en-US" sz="2400" spc="65" dirty="0">
                <a:solidFill>
                  <a:srgbClr val="374552"/>
                </a:solidFill>
                <a:latin typeface="Verdana"/>
                <a:cs typeface="Verdana"/>
              </a:rPr>
              <a:t>JWT</a:t>
            </a:r>
            <a:r>
              <a:rPr lang="en-US" sz="2400" spc="-9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lang="en-US" sz="2400" spc="-10" dirty="0">
                <a:solidFill>
                  <a:srgbClr val="374552"/>
                </a:solidFill>
                <a:latin typeface="Verdana"/>
                <a:cs typeface="Verdana"/>
              </a:rPr>
              <a:t>Authentication </a:t>
            </a:r>
            <a:r>
              <a:rPr lang="en-US" sz="2400" dirty="0">
                <a:solidFill>
                  <a:srgbClr val="374552"/>
                </a:solidFill>
                <a:latin typeface="Verdana"/>
                <a:cs typeface="Verdana"/>
              </a:rPr>
              <a:t>Google</a:t>
            </a:r>
            <a:r>
              <a:rPr lang="en-US" sz="240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lang="en-US" sz="2400" spc="55" dirty="0">
                <a:solidFill>
                  <a:srgbClr val="374552"/>
                </a:solidFill>
                <a:latin typeface="Verdana"/>
                <a:cs typeface="Verdana"/>
              </a:rPr>
              <a:t>OAuth</a:t>
            </a:r>
            <a:r>
              <a:rPr lang="en-US" sz="240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lang="en-US" sz="2400" spc="-25" dirty="0">
                <a:solidFill>
                  <a:srgbClr val="374552"/>
                </a:solidFill>
                <a:latin typeface="Verdana"/>
                <a:cs typeface="Verdana"/>
              </a:rPr>
              <a:t>2.0</a:t>
            </a:r>
            <a:endParaRPr lang="en-US" sz="2400" dirty="0">
              <a:latin typeface="Verdana"/>
              <a:cs typeface="Verdan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5287A8-63E3-27BB-2E25-D1ACD71289A8}"/>
              </a:ext>
            </a:extLst>
          </p:cNvPr>
          <p:cNvSpPr txBox="1"/>
          <p:nvPr/>
        </p:nvSpPr>
        <p:spPr>
          <a:xfrm>
            <a:off x="7203529" y="4984864"/>
            <a:ext cx="2887329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Database</a:t>
            </a:r>
          </a:p>
          <a:p>
            <a:r>
              <a:rPr lang="en-I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lang="en-IN" sz="2800" dirty="0">
                <a:solidFill>
                  <a:schemeClr val="accent3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MySQL (Cloud).</a:t>
            </a:r>
            <a:endParaRPr lang="en-US" sz="4400" dirty="0">
              <a:solidFill>
                <a:schemeClr val="accent3">
                  <a:lumMod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IN" sz="2800" dirty="0">
              <a:solidFill>
                <a:schemeClr val="tx1">
                  <a:lumMod val="65000"/>
                  <a:lumOff val="3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DEC63D-0F8F-5130-804D-30F21FF0ED8D}"/>
              </a:ext>
            </a:extLst>
          </p:cNvPr>
          <p:cNvSpPr txBox="1"/>
          <p:nvPr/>
        </p:nvSpPr>
        <p:spPr>
          <a:xfrm>
            <a:off x="1051560" y="5383118"/>
            <a:ext cx="47183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Integration: </a:t>
            </a:r>
          </a:p>
          <a:p>
            <a:r>
              <a:rPr lang="en-IN" sz="2400" dirty="0">
                <a:solidFill>
                  <a:schemeClr val="accent3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n8n (Workflow Automation).</a:t>
            </a:r>
          </a:p>
        </p:txBody>
      </p:sp>
    </p:spTree>
    <p:extLst>
      <p:ext uri="{BB962C8B-B14F-4D97-AF65-F5344CB8AC3E}">
        <p14:creationId xmlns:p14="http://schemas.microsoft.com/office/powerpoint/2010/main" val="3855161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488C5-D469-CBC6-6D9B-E954D9AB2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u="sng" spc="-18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Milestone 1: User</a:t>
            </a:r>
            <a:r>
              <a:rPr lang="en-IN" sz="4000" u="sng" spc="-27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N" sz="4000" u="sng" spc="-19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Authentication</a:t>
            </a:r>
            <a:r>
              <a:rPr lang="en-IN" sz="4000" u="sng" spc="-26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N" sz="4000" u="sng" spc="-2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&amp;</a:t>
            </a:r>
            <a:r>
              <a:rPr lang="en-IN" sz="4000" u="sng" spc="-27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N" sz="4000" u="sng" spc="-14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Profile </a:t>
            </a:r>
            <a:r>
              <a:rPr lang="en-IN" sz="4000" u="sng" spc="-29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Management</a:t>
            </a:r>
            <a:endParaRPr lang="en-IN" sz="4000" u="sng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80363-6F11-8CE2-D2DB-64CB137DDD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3200" spc="-70" dirty="0">
                <a:latin typeface="Tahoma"/>
                <a:cs typeface="Tahoma"/>
              </a:rPr>
              <a:t>Secure</a:t>
            </a:r>
            <a:r>
              <a:rPr lang="en-US" sz="3200" spc="-95" dirty="0">
                <a:latin typeface="Tahoma"/>
                <a:cs typeface="Tahoma"/>
              </a:rPr>
              <a:t> </a:t>
            </a:r>
            <a:r>
              <a:rPr lang="en-US" sz="3200" spc="-20" dirty="0">
                <a:latin typeface="Tahoma"/>
                <a:cs typeface="Tahoma"/>
              </a:rPr>
              <a:t>Onboarding</a:t>
            </a:r>
            <a:endParaRPr lang="en-US" sz="3200" dirty="0">
              <a:latin typeface="Tahoma"/>
              <a:cs typeface="Tahoma"/>
            </a:endParaRPr>
          </a:p>
          <a:p>
            <a:pPr marL="0" marR="5080" indent="0">
              <a:lnSpc>
                <a:spcPct val="140000"/>
              </a:lnSpc>
              <a:spcBef>
                <a:spcPts val="445"/>
              </a:spcBef>
              <a:buNone/>
            </a:pPr>
            <a:r>
              <a:rPr lang="en-US" dirty="0">
                <a:solidFill>
                  <a:srgbClr val="374552"/>
                </a:solidFill>
                <a:latin typeface="Verdana"/>
                <a:cs typeface="Verdana"/>
              </a:rPr>
              <a:t>  Robust</a:t>
            </a:r>
            <a:r>
              <a:rPr lang="en-US" spc="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lang="en-US" dirty="0">
                <a:solidFill>
                  <a:srgbClr val="374552"/>
                </a:solidFill>
                <a:latin typeface="Verdana"/>
                <a:cs typeface="Verdana"/>
              </a:rPr>
              <a:t>registration</a:t>
            </a:r>
            <a:r>
              <a:rPr lang="en-US" spc="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lang="en-US" spc="5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lang="en-US" spc="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lang="en-US" spc="-20" dirty="0">
                <a:solidFill>
                  <a:srgbClr val="374552"/>
                </a:solidFill>
                <a:latin typeface="Verdana"/>
                <a:cs typeface="Verdana"/>
              </a:rPr>
              <a:t>login </a:t>
            </a:r>
            <a:r>
              <a:rPr lang="en-US" spc="-10" dirty="0">
                <a:solidFill>
                  <a:srgbClr val="374552"/>
                </a:solidFill>
                <a:latin typeface="Verdana"/>
                <a:cs typeface="Verdana"/>
              </a:rPr>
              <a:t>processes.</a:t>
            </a:r>
            <a:endParaRPr lang="en-US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3200" spc="-80" dirty="0">
                <a:latin typeface="Tahoma"/>
                <a:cs typeface="Tahoma"/>
              </a:rPr>
              <a:t>Profile</a:t>
            </a:r>
            <a:r>
              <a:rPr lang="en-US" sz="3200" spc="-95" dirty="0">
                <a:latin typeface="Tahoma"/>
                <a:cs typeface="Tahoma"/>
              </a:rPr>
              <a:t> </a:t>
            </a:r>
            <a:r>
              <a:rPr lang="en-US" sz="3200" spc="-10" dirty="0">
                <a:latin typeface="Tahoma"/>
                <a:cs typeface="Tahoma"/>
              </a:rPr>
              <a:t>Creation</a:t>
            </a:r>
            <a:endParaRPr lang="en-US" sz="3200" dirty="0">
              <a:latin typeface="Tahoma"/>
              <a:cs typeface="Tahoma"/>
            </a:endParaRPr>
          </a:p>
          <a:p>
            <a:pPr marL="0" marR="5080" indent="0">
              <a:lnSpc>
                <a:spcPct val="137500"/>
              </a:lnSpc>
              <a:spcBef>
                <a:spcPts val="484"/>
              </a:spcBef>
              <a:buNone/>
            </a:pPr>
            <a:r>
              <a:rPr lang="en-US" dirty="0">
                <a:solidFill>
                  <a:srgbClr val="374552"/>
                </a:solidFill>
                <a:latin typeface="Verdana"/>
                <a:cs typeface="Verdana"/>
              </a:rPr>
              <a:t>  Users</a:t>
            </a:r>
            <a:r>
              <a:rPr lang="en-US" spc="-9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lang="en-US" spc="50" dirty="0">
                <a:solidFill>
                  <a:srgbClr val="374552"/>
                </a:solidFill>
                <a:latin typeface="Verdana"/>
                <a:cs typeface="Verdana"/>
              </a:rPr>
              <a:t>build</a:t>
            </a:r>
            <a:r>
              <a:rPr lang="en-US" spc="-9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lang="en-US" spc="-10" dirty="0">
                <a:solidFill>
                  <a:srgbClr val="374552"/>
                </a:solidFill>
                <a:latin typeface="Verdana"/>
                <a:cs typeface="Verdana"/>
              </a:rPr>
              <a:t>comprehensive </a:t>
            </a:r>
            <a:r>
              <a:rPr lang="en-US" dirty="0">
                <a:solidFill>
                  <a:srgbClr val="374552"/>
                </a:solidFill>
                <a:latin typeface="Verdana"/>
                <a:cs typeface="Verdana"/>
              </a:rPr>
              <a:t>personal</a:t>
            </a:r>
            <a:r>
              <a:rPr lang="en-US" spc="-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lang="en-US" spc="5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lang="en-US" spc="-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lang="en-US" spc="35" dirty="0">
                <a:solidFill>
                  <a:srgbClr val="374552"/>
                </a:solidFill>
                <a:latin typeface="Verdana"/>
                <a:cs typeface="Verdana"/>
              </a:rPr>
              <a:t>academic </a:t>
            </a:r>
            <a:r>
              <a:rPr lang="en-US" spc="-10" dirty="0">
                <a:solidFill>
                  <a:srgbClr val="374552"/>
                </a:solidFill>
                <a:latin typeface="Verdana"/>
                <a:cs typeface="Verdana"/>
              </a:rPr>
              <a:t>profiles.</a:t>
            </a:r>
            <a:endParaRPr lang="en-US" sz="32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lang="en-US" sz="3200" spc="-130" dirty="0">
                <a:latin typeface="Tahoma"/>
                <a:cs typeface="Tahoma"/>
              </a:rPr>
              <a:t>Data</a:t>
            </a:r>
            <a:r>
              <a:rPr lang="en-US" sz="3200" spc="-125" dirty="0">
                <a:latin typeface="Tahoma"/>
                <a:cs typeface="Tahoma"/>
              </a:rPr>
              <a:t> </a:t>
            </a:r>
            <a:r>
              <a:rPr lang="en-US" sz="3200" spc="-10" dirty="0">
                <a:latin typeface="Tahoma"/>
                <a:cs typeface="Tahoma"/>
              </a:rPr>
              <a:t>Privacy</a:t>
            </a:r>
            <a:endParaRPr lang="en-US" sz="3200" dirty="0">
              <a:latin typeface="Tahoma"/>
              <a:cs typeface="Tahoma"/>
            </a:endParaRPr>
          </a:p>
          <a:p>
            <a:pPr marL="0" indent="0">
              <a:lnSpc>
                <a:spcPct val="100000"/>
              </a:lnSpc>
              <a:spcBef>
                <a:spcPts val="1045"/>
              </a:spcBef>
              <a:buNone/>
            </a:pPr>
            <a:r>
              <a:rPr lang="en-US" dirty="0">
                <a:solidFill>
                  <a:srgbClr val="374552"/>
                </a:solidFill>
                <a:latin typeface="Verdana"/>
                <a:cs typeface="Verdana"/>
              </a:rPr>
              <a:t>  Ensuring</a:t>
            </a:r>
            <a:r>
              <a:rPr lang="en-US" spc="5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lang="en-US" dirty="0">
                <a:solidFill>
                  <a:srgbClr val="374552"/>
                </a:solidFill>
                <a:latin typeface="Verdana"/>
                <a:cs typeface="Verdana"/>
              </a:rPr>
              <a:t>confidentiality</a:t>
            </a:r>
            <a:r>
              <a:rPr lang="en-US" spc="5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lang="en-US" spc="5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lang="en-US" spc="5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lang="en-US" dirty="0">
                <a:solidFill>
                  <a:srgbClr val="374552"/>
                </a:solidFill>
                <a:latin typeface="Verdana"/>
                <a:cs typeface="Verdana"/>
              </a:rPr>
              <a:t>protection</a:t>
            </a:r>
            <a:r>
              <a:rPr lang="en-US" spc="5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lang="en-US" dirty="0">
                <a:solidFill>
                  <a:srgbClr val="374552"/>
                </a:solidFill>
                <a:latin typeface="Verdana"/>
                <a:cs typeface="Verdana"/>
              </a:rPr>
              <a:t>of</a:t>
            </a:r>
            <a:r>
              <a:rPr lang="en-US" spc="5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lang="en-US" dirty="0">
                <a:solidFill>
                  <a:srgbClr val="374552"/>
                </a:solidFill>
                <a:latin typeface="Verdana"/>
                <a:cs typeface="Verdana"/>
              </a:rPr>
              <a:t>user</a:t>
            </a:r>
            <a:r>
              <a:rPr lang="en-US" spc="5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lang="en-US" spc="-10" dirty="0">
                <a:solidFill>
                  <a:srgbClr val="374552"/>
                </a:solidFill>
                <a:latin typeface="Verdana"/>
                <a:cs typeface="Verdana"/>
              </a:rPr>
              <a:t>data.</a:t>
            </a:r>
            <a:endParaRPr lang="en-US" dirty="0">
              <a:latin typeface="Verdana"/>
              <a:cs typeface="Verdana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422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191BE1-F83B-A76D-177D-B7D1A2D8E2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7066"/>
            <a:ext cx="12192000" cy="6283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3656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FA2983F-8250-14C8-1409-0D6E7767E0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75" r="34450"/>
          <a:stretch>
            <a:fillRect/>
          </a:stretch>
        </p:blipFill>
        <p:spPr>
          <a:xfrm>
            <a:off x="1618488" y="905256"/>
            <a:ext cx="3401028" cy="56738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1FE4232-6090-4A9F-90A3-EE99E951CC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25" r="34600" b="3415"/>
          <a:stretch>
            <a:fillRect/>
          </a:stretch>
        </p:blipFill>
        <p:spPr>
          <a:xfrm>
            <a:off x="7278624" y="914924"/>
            <a:ext cx="3776472" cy="567383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57501B4-038B-2BFA-85E3-85FB34484A89}"/>
              </a:ext>
            </a:extLst>
          </p:cNvPr>
          <p:cNvSpPr txBox="1"/>
          <p:nvPr/>
        </p:nvSpPr>
        <p:spPr>
          <a:xfrm>
            <a:off x="2286000" y="487776"/>
            <a:ext cx="23225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Registration Page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4EC83C-870E-8C54-8090-41937558278F}"/>
              </a:ext>
            </a:extLst>
          </p:cNvPr>
          <p:cNvSpPr txBox="1"/>
          <p:nvPr/>
        </p:nvSpPr>
        <p:spPr>
          <a:xfrm>
            <a:off x="8336280" y="387192"/>
            <a:ext cx="1901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Login</a:t>
            </a:r>
            <a:r>
              <a:rPr lang="en-IN" dirty="0"/>
              <a:t> </a:t>
            </a:r>
            <a:r>
              <a:rPr lang="en-IN" sz="2000" dirty="0"/>
              <a:t>Page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89525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7561F02-7B9C-431D-ED34-39E9F2C7FE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6730"/>
            <a:ext cx="12192000" cy="5844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1939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D9E8496-DFCA-5AC2-E291-DC35B52AB9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888" y="100584"/>
            <a:ext cx="11768328" cy="6635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067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2991E-743B-57AC-F611-7696F0C65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u="sng" spc="-19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Milestone 2: Education</a:t>
            </a:r>
            <a:r>
              <a:rPr lang="en-US" sz="4000" u="sng" spc="-27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u="sng" spc="-20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Details</a:t>
            </a:r>
            <a:r>
              <a:rPr lang="en-US" sz="4000" u="sng" spc="-27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u="sng" spc="-34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Input</a:t>
            </a:r>
            <a:r>
              <a:rPr lang="en-US" sz="4000" u="sng" spc="-27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u="sng" spc="-9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&amp; </a:t>
            </a:r>
            <a:r>
              <a:rPr lang="en-US" sz="4000" u="sng" spc="-17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Preprocessing</a:t>
            </a:r>
            <a:r>
              <a:rPr lang="en-US" sz="4000" u="sng" spc="-18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u="sng" spc="-3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Module</a:t>
            </a:r>
            <a:endParaRPr lang="en-IN" sz="4000" u="sng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825BE-813A-4AAD-C4DF-1DC9DAE52A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97509"/>
            <a:ext cx="10515600" cy="3979453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3200" spc="-60" dirty="0">
                <a:latin typeface="Tahoma"/>
                <a:cs typeface="Tahoma"/>
              </a:rPr>
              <a:t>Academic</a:t>
            </a:r>
            <a:r>
              <a:rPr lang="en-US" sz="3200" spc="-120" dirty="0">
                <a:latin typeface="Tahoma"/>
                <a:cs typeface="Tahoma"/>
              </a:rPr>
              <a:t> </a:t>
            </a:r>
            <a:r>
              <a:rPr lang="en-US" sz="3200" spc="-130" dirty="0">
                <a:latin typeface="Tahoma"/>
                <a:cs typeface="Tahoma"/>
              </a:rPr>
              <a:t>Data</a:t>
            </a:r>
            <a:r>
              <a:rPr lang="en-US" sz="3200" spc="-114" dirty="0">
                <a:latin typeface="Tahoma"/>
                <a:cs typeface="Tahoma"/>
              </a:rPr>
              <a:t> </a:t>
            </a:r>
            <a:r>
              <a:rPr lang="en-US" sz="3200" spc="-10" dirty="0">
                <a:latin typeface="Tahoma"/>
                <a:cs typeface="Tahoma"/>
              </a:rPr>
              <a:t>Capture</a:t>
            </a:r>
            <a:endParaRPr lang="en-US" sz="3200" dirty="0">
              <a:latin typeface="Tahoma"/>
              <a:cs typeface="Tahoma"/>
            </a:endParaRPr>
          </a:p>
          <a:p>
            <a:pPr marL="0" marR="5080" indent="0">
              <a:lnSpc>
                <a:spcPct val="135000"/>
              </a:lnSpc>
              <a:spcBef>
                <a:spcPts val="520"/>
              </a:spcBef>
              <a:buNone/>
            </a:pPr>
            <a:r>
              <a:rPr lang="en-US" dirty="0">
                <a:solidFill>
                  <a:srgbClr val="374552"/>
                </a:solidFill>
                <a:latin typeface="Verdana"/>
                <a:cs typeface="Verdana"/>
              </a:rPr>
              <a:t>  Structured</a:t>
            </a:r>
            <a:r>
              <a:rPr lang="en-US" spc="-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lang="en-US" spc="50" dirty="0">
                <a:solidFill>
                  <a:srgbClr val="374552"/>
                </a:solidFill>
                <a:latin typeface="Verdana"/>
                <a:cs typeface="Verdana"/>
              </a:rPr>
              <a:t>input</a:t>
            </a:r>
            <a:r>
              <a:rPr lang="en-US" spc="-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lang="en-US" spc="-10" dirty="0">
                <a:solidFill>
                  <a:srgbClr val="374552"/>
                </a:solidFill>
                <a:latin typeface="Verdana"/>
                <a:cs typeface="Verdana"/>
              </a:rPr>
              <a:t>for</a:t>
            </a:r>
            <a:r>
              <a:rPr lang="en-US" spc="-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lang="en-US" spc="-10" dirty="0">
                <a:solidFill>
                  <a:srgbClr val="374552"/>
                </a:solidFill>
                <a:latin typeface="Verdana"/>
                <a:cs typeface="Verdana"/>
              </a:rPr>
              <a:t>courses, </a:t>
            </a:r>
            <a:r>
              <a:rPr lang="en-US" spc="-20" dirty="0">
                <a:solidFill>
                  <a:srgbClr val="374552"/>
                </a:solidFill>
                <a:latin typeface="Verdana"/>
                <a:cs typeface="Verdana"/>
              </a:rPr>
              <a:t>grades,</a:t>
            </a:r>
            <a:r>
              <a:rPr lang="en-US" spc="-8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lang="en-US" spc="5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lang="en-US" spc="-7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lang="en-US" spc="-10" dirty="0">
                <a:solidFill>
                  <a:srgbClr val="374552"/>
                </a:solidFill>
                <a:latin typeface="Verdana"/>
                <a:cs typeface="Verdana"/>
              </a:rPr>
              <a:t>qualifications.</a:t>
            </a:r>
            <a:endParaRPr lang="en-US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3200" spc="-130" dirty="0">
                <a:latin typeface="Tahoma"/>
                <a:cs typeface="Tahoma"/>
              </a:rPr>
              <a:t>Data</a:t>
            </a:r>
            <a:r>
              <a:rPr lang="en-US" sz="3200" spc="-125" dirty="0">
                <a:latin typeface="Tahoma"/>
                <a:cs typeface="Tahoma"/>
              </a:rPr>
              <a:t> </a:t>
            </a:r>
            <a:r>
              <a:rPr lang="en-US" sz="3200" spc="-10" dirty="0">
                <a:latin typeface="Tahoma"/>
                <a:cs typeface="Tahoma"/>
              </a:rPr>
              <a:t>Cleaning</a:t>
            </a:r>
            <a:endParaRPr lang="en-US" sz="3200" dirty="0">
              <a:latin typeface="Tahoma"/>
              <a:cs typeface="Tahoma"/>
            </a:endParaRPr>
          </a:p>
          <a:p>
            <a:pPr marL="0" marR="5080" indent="0">
              <a:lnSpc>
                <a:spcPct val="135000"/>
              </a:lnSpc>
              <a:spcBef>
                <a:spcPts val="520"/>
              </a:spcBef>
              <a:buNone/>
            </a:pPr>
            <a:r>
              <a:rPr lang="en-US" spc="45" dirty="0">
                <a:solidFill>
                  <a:srgbClr val="374552"/>
                </a:solidFill>
                <a:latin typeface="Verdana"/>
                <a:cs typeface="Verdana"/>
              </a:rPr>
              <a:t>  Automated</a:t>
            </a:r>
            <a:r>
              <a:rPr lang="en-US" spc="-7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lang="en-US" dirty="0">
                <a:solidFill>
                  <a:srgbClr val="374552"/>
                </a:solidFill>
                <a:latin typeface="Verdana"/>
                <a:cs typeface="Verdana"/>
              </a:rPr>
              <a:t>processes</a:t>
            </a:r>
            <a:r>
              <a:rPr lang="en-US" spc="-6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lang="en-US" spc="-25" dirty="0">
                <a:solidFill>
                  <a:srgbClr val="374552"/>
                </a:solidFill>
                <a:latin typeface="Verdana"/>
                <a:cs typeface="Verdana"/>
              </a:rPr>
              <a:t>for </a:t>
            </a:r>
            <a:r>
              <a:rPr lang="en-US" dirty="0">
                <a:solidFill>
                  <a:srgbClr val="374552"/>
                </a:solidFill>
                <a:latin typeface="Verdana"/>
                <a:cs typeface="Verdana"/>
              </a:rPr>
              <a:t>consistency</a:t>
            </a:r>
            <a:r>
              <a:rPr lang="en-US" spc="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lang="en-US" spc="5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lang="en-US" spc="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lang="en-US" spc="-10" dirty="0">
                <a:solidFill>
                  <a:srgbClr val="374552"/>
                </a:solidFill>
                <a:latin typeface="Verdana"/>
                <a:cs typeface="Verdana"/>
              </a:rPr>
              <a:t>accuracy.</a:t>
            </a:r>
            <a:endParaRPr lang="en-US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3200" spc="-100" dirty="0">
                <a:latin typeface="Tahoma"/>
                <a:cs typeface="Tahoma"/>
              </a:rPr>
              <a:t>Feature</a:t>
            </a:r>
            <a:r>
              <a:rPr lang="en-US" sz="3200" spc="-85" dirty="0">
                <a:latin typeface="Tahoma"/>
                <a:cs typeface="Tahoma"/>
              </a:rPr>
              <a:t> </a:t>
            </a:r>
            <a:r>
              <a:rPr lang="en-US" sz="3200" spc="-10" dirty="0">
                <a:latin typeface="Tahoma"/>
                <a:cs typeface="Tahoma"/>
              </a:rPr>
              <a:t>Engineering</a:t>
            </a:r>
            <a:endParaRPr lang="en-US" sz="3200" dirty="0">
              <a:latin typeface="Tahoma"/>
              <a:cs typeface="Tahoma"/>
            </a:endParaRPr>
          </a:p>
          <a:p>
            <a:pPr marL="0" indent="0">
              <a:lnSpc>
                <a:spcPct val="100000"/>
              </a:lnSpc>
              <a:spcBef>
                <a:spcPts val="1120"/>
              </a:spcBef>
              <a:buNone/>
            </a:pPr>
            <a:r>
              <a:rPr lang="en-US" dirty="0">
                <a:solidFill>
                  <a:srgbClr val="374552"/>
                </a:solidFill>
                <a:latin typeface="Verdana"/>
                <a:cs typeface="Verdana"/>
              </a:rPr>
              <a:t>  Transforming</a:t>
            </a:r>
            <a:r>
              <a:rPr lang="en-US" spc="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lang="en-US" spc="-10" dirty="0">
                <a:solidFill>
                  <a:srgbClr val="374552"/>
                </a:solidFill>
                <a:latin typeface="Verdana"/>
                <a:cs typeface="Verdana"/>
              </a:rPr>
              <a:t>raw</a:t>
            </a:r>
            <a:r>
              <a:rPr lang="en-US" spc="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lang="en-US" dirty="0">
                <a:solidFill>
                  <a:srgbClr val="374552"/>
                </a:solidFill>
                <a:latin typeface="Verdana"/>
                <a:cs typeface="Verdana"/>
              </a:rPr>
              <a:t>data</a:t>
            </a:r>
            <a:r>
              <a:rPr lang="en-US" spc="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lang="en-US" dirty="0">
                <a:solidFill>
                  <a:srgbClr val="374552"/>
                </a:solidFill>
                <a:latin typeface="Verdana"/>
                <a:cs typeface="Verdana"/>
              </a:rPr>
              <a:t>into</a:t>
            </a:r>
            <a:r>
              <a:rPr lang="en-US" spc="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lang="en-US" dirty="0">
                <a:solidFill>
                  <a:srgbClr val="374552"/>
                </a:solidFill>
                <a:latin typeface="Verdana"/>
                <a:cs typeface="Verdana"/>
              </a:rPr>
              <a:t>meaningful</a:t>
            </a:r>
            <a:r>
              <a:rPr lang="en-US" spc="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lang="en-US" spc="105" dirty="0">
                <a:solidFill>
                  <a:srgbClr val="374552"/>
                </a:solidFill>
                <a:latin typeface="Verdana"/>
                <a:cs typeface="Verdana"/>
              </a:rPr>
              <a:t>ML</a:t>
            </a:r>
            <a:r>
              <a:rPr lang="en-US" spc="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lang="en-US" spc="-10" dirty="0">
                <a:solidFill>
                  <a:srgbClr val="374552"/>
                </a:solidFill>
                <a:latin typeface="Verdana"/>
                <a:cs typeface="Verdana"/>
              </a:rPr>
              <a:t>features.</a:t>
            </a:r>
            <a:endParaRPr lang="en-US" dirty="0">
              <a:latin typeface="Verdana"/>
              <a:cs typeface="Verdana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95222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7C8C9038-AB45-F3C6-BBC8-7DA0F181E6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8439"/>
            <a:ext cx="12192000" cy="6281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239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ABD02B-0D13-C3A1-A3B6-A88F24A28D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8341"/>
            <a:ext cx="12192000" cy="62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298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304F358-D9A8-0CFE-D6B5-EB17A7911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2835"/>
            <a:ext cx="12192000" cy="6332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2053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87B4F80-38FB-D4B9-2AFA-3774799EB5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16" y="88511"/>
            <a:ext cx="11932920" cy="6621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3755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7DB0C-D5BB-AF4A-77E0-FC741C774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u="sng" spc="-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Milestone 3: Job</a:t>
            </a:r>
            <a:r>
              <a:rPr lang="en-IN" sz="4000" u="sng" spc="-27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N" sz="4000" u="sng" spc="-2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Role</a:t>
            </a:r>
            <a:r>
              <a:rPr lang="en-IN" sz="4000" u="sng" spc="-27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N" sz="4000" u="sng" spc="-17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Prediction</a:t>
            </a:r>
            <a:r>
              <a:rPr lang="en-IN" sz="4000" u="sng" spc="-26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N" sz="4000" u="sng" spc="-3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Module</a:t>
            </a:r>
            <a:endParaRPr lang="en-IN" sz="4000" u="sng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1B2C6-71C0-8C70-A3C1-45950387F8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3200" spc="-8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User</a:t>
            </a:r>
            <a:r>
              <a:rPr lang="en-US" sz="3200" spc="-1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3200" spc="-1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</a:t>
            </a:r>
            <a:r>
              <a:rPr lang="en-US" sz="3200" spc="-11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3200" spc="-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Integration</a:t>
            </a: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1045"/>
              </a:spcBef>
              <a:buNone/>
            </a:pPr>
            <a:r>
              <a:rPr lang="en-US" spc="50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Feeding</a:t>
            </a:r>
            <a:r>
              <a:rPr lang="en-US" spc="-20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pc="10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processed</a:t>
            </a:r>
            <a:r>
              <a:rPr lang="en-US" spc="-20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pc="10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education</a:t>
            </a:r>
            <a:r>
              <a:rPr lang="en-US" spc="-15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pc="50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</a:t>
            </a:r>
            <a:r>
              <a:rPr lang="en-US" spc="-20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pc="10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profile</a:t>
            </a:r>
            <a:r>
              <a:rPr lang="en-US" spc="-15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pc="-10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data.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85"/>
              </a:spcBef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 sz="3200" spc="-14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ML</a:t>
            </a:r>
            <a:r>
              <a:rPr lang="en-US" sz="3200" spc="-10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3200" spc="-8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Prediction</a:t>
            </a:r>
            <a:r>
              <a:rPr lang="en-US" sz="3200" spc="-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32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Engine</a:t>
            </a: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1120"/>
              </a:spcBef>
              <a:buNone/>
            </a:pPr>
            <a:r>
              <a:rPr lang="en-US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Utilizing</a:t>
            </a:r>
            <a:r>
              <a:rPr lang="en-US" spc="-25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pc="60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Random</a:t>
            </a:r>
            <a:r>
              <a:rPr lang="en-US" spc="-25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Forest</a:t>
            </a:r>
            <a:r>
              <a:rPr lang="en-US" spc="-25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pc="-10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</a:t>
            </a:r>
            <a:r>
              <a:rPr lang="en-US" spc="-25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career</a:t>
            </a:r>
            <a:r>
              <a:rPr lang="en-US" spc="-25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pc="-10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forecasting.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85"/>
              </a:spcBef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2700">
              <a:lnSpc>
                <a:spcPct val="100000"/>
              </a:lnSpc>
            </a:pPr>
            <a:r>
              <a:rPr lang="en-US" sz="3200" spc="-9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Personalized</a:t>
            </a:r>
            <a:r>
              <a:rPr lang="en-US" sz="3200" spc="-6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3200" spc="-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Recommendations</a:t>
            </a: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1045"/>
              </a:spcBef>
              <a:buNone/>
            </a:pPr>
            <a:r>
              <a:rPr lang="en-US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Generating</a:t>
            </a:r>
            <a:r>
              <a:rPr lang="en-US" spc="-35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relevant</a:t>
            </a:r>
            <a:r>
              <a:rPr lang="en-US" spc="-40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job</a:t>
            </a:r>
            <a:r>
              <a:rPr lang="en-US" spc="-30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role</a:t>
            </a:r>
            <a:r>
              <a:rPr lang="en-US" spc="-30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pc="-10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suggestions.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IN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07323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A0E1ACA-8DAD-3398-991C-84A6608691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9" b="-1"/>
          <a:stretch>
            <a:fillRect/>
          </a:stretch>
        </p:blipFill>
        <p:spPr>
          <a:xfrm>
            <a:off x="0" y="877824"/>
            <a:ext cx="12192000" cy="5149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1296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286E3F9-0165-3322-5774-85F0984C6F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19150"/>
            <a:ext cx="12192000" cy="521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2297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AD1015-9D15-EF14-D19F-B32A2368BC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16" b="1416"/>
          <a:stretch>
            <a:fillRect/>
          </a:stretch>
        </p:blipFill>
        <p:spPr>
          <a:xfrm>
            <a:off x="0" y="857250"/>
            <a:ext cx="12192000" cy="5159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6595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432A433-C7B0-8363-C8D4-0011BC9E70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24" y="99381"/>
            <a:ext cx="11814048" cy="6655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9676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CA196-E67B-8DA5-E839-9C3606389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spc="-2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Milestone 4: Admin</a:t>
            </a:r>
            <a:r>
              <a:rPr lang="en-IN" sz="4000" spc="-28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N" sz="4000" spc="-2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Dashboard</a:t>
            </a:r>
            <a:r>
              <a:rPr lang="en-IN" sz="4000" spc="-27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N" sz="4000" spc="-2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&amp;</a:t>
            </a:r>
            <a:r>
              <a:rPr lang="en-IN" sz="4000" spc="-27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Model </a:t>
            </a:r>
            <a:r>
              <a:rPr lang="en-IN" sz="4000" spc="-29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Management</a:t>
            </a:r>
            <a:endParaRPr lang="en-IN" sz="4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B6444-E8B5-E843-7A97-651A3A3F8B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98450" marR="72390" indent="-285750">
              <a:lnSpc>
                <a:spcPct val="135000"/>
              </a:lnSpc>
              <a:spcBef>
                <a:spcPts val="90"/>
              </a:spcBef>
            </a:pPr>
            <a:r>
              <a:rPr lang="it-IT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User</a:t>
            </a:r>
            <a:r>
              <a:rPr lang="it-IT" spc="70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it-IT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Management</a:t>
            </a:r>
            <a:endParaRPr lang="it-IT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98450" marR="327025" indent="-285750">
              <a:lnSpc>
                <a:spcPct val="137500"/>
              </a:lnSpc>
              <a:spcBef>
                <a:spcPts val="415"/>
              </a:spcBef>
            </a:pPr>
            <a:r>
              <a:rPr lang="it-IT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</a:t>
            </a:r>
            <a:r>
              <a:rPr lang="it-IT" spc="5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it-IT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Monitoring</a:t>
            </a:r>
          </a:p>
          <a:p>
            <a:pPr marL="298450" marR="327025" indent="-285750">
              <a:lnSpc>
                <a:spcPct val="137500"/>
              </a:lnSpc>
              <a:spcBef>
                <a:spcPts val="415"/>
              </a:spcBef>
            </a:pPr>
            <a:r>
              <a:rPr lang="it-IT" spc="60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</a:t>
            </a:r>
            <a:r>
              <a:rPr lang="it-IT" spc="-55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it-IT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Performance</a:t>
            </a:r>
            <a:endParaRPr lang="it-IT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98450" marR="21590" indent="-285750">
              <a:lnSpc>
                <a:spcPct val="135000"/>
              </a:lnSpc>
              <a:spcBef>
                <a:spcPts val="90"/>
              </a:spcBef>
            </a:pPr>
            <a:r>
              <a:rPr lang="en-US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Retraining</a:t>
            </a:r>
            <a:r>
              <a:rPr lang="en-US" spc="10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pc="-30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Control</a:t>
            </a:r>
          </a:p>
          <a:p>
            <a:pPr marL="298450" marR="21590" indent="-285750">
              <a:lnSpc>
                <a:spcPct val="135000"/>
              </a:lnSpc>
              <a:spcBef>
                <a:spcPts val="90"/>
              </a:spcBef>
            </a:pPr>
            <a:r>
              <a:rPr lang="en-US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System</a:t>
            </a:r>
            <a:r>
              <a:rPr lang="en-US" spc="-55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pc="-20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Analytics</a:t>
            </a:r>
          </a:p>
          <a:p>
            <a:pPr marL="298450" marR="21590" indent="-285750">
              <a:lnSpc>
                <a:spcPct val="135000"/>
              </a:lnSpc>
              <a:spcBef>
                <a:spcPts val="90"/>
              </a:spcBef>
            </a:pPr>
            <a:r>
              <a:rPr lang="en-US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Content</a:t>
            </a:r>
            <a:r>
              <a:rPr lang="en-US" spc="30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pc="-10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Updates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IN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98471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74FA742-507F-7713-F5CD-86C7223AC8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3108"/>
            <a:ext cx="12192000" cy="6011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1862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B93A2DE-ECF8-5513-F494-914506DA4B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0" b="-1300"/>
          <a:stretch>
            <a:fillRect/>
          </a:stretch>
        </p:blipFill>
        <p:spPr>
          <a:xfrm>
            <a:off x="0" y="346065"/>
            <a:ext cx="12192000" cy="6330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6969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45CA17C-02D9-571F-18E3-F58A6B8F44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0056"/>
            <a:ext cx="12192000" cy="5897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7018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0A26235-03E7-A7EC-263D-2850A91233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168" y="91478"/>
            <a:ext cx="11832336" cy="6645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8525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5C509-47C4-FFCF-37E9-238104FE4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u="sng" spc="-20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Performance</a:t>
            </a:r>
            <a:r>
              <a:rPr lang="en-IN" sz="4000" u="sng" spc="-2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N" sz="4000" u="sng" spc="-1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Metrics</a:t>
            </a:r>
            <a:endParaRPr lang="en-IN" sz="4000" u="sng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0BFE52-9D1E-BFDC-43DA-9DDD8EA26D1D}"/>
              </a:ext>
            </a:extLst>
          </p:cNvPr>
          <p:cNvSpPr txBox="1"/>
          <p:nvPr/>
        </p:nvSpPr>
        <p:spPr>
          <a:xfrm>
            <a:off x="426720" y="2185416"/>
            <a:ext cx="2636520" cy="2834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US" sz="5400" b="1" spc="-8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95%</a:t>
            </a:r>
            <a:endParaRPr lang="en-US" sz="5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>
              <a:lnSpc>
                <a:spcPct val="100000"/>
              </a:lnSpc>
              <a:spcBef>
                <a:spcPts val="1335"/>
              </a:spcBef>
            </a:pPr>
            <a:r>
              <a:rPr lang="en-US" sz="2400" b="1" spc="-8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Prediction</a:t>
            </a:r>
            <a:r>
              <a:rPr lang="en-US" sz="2400" b="1" spc="-7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Accuracy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2065" marR="5080" algn="ctr">
              <a:lnSpc>
                <a:spcPct val="135000"/>
              </a:lnSpc>
              <a:spcBef>
                <a:spcPts val="520"/>
              </a:spcBef>
            </a:pPr>
            <a:r>
              <a:rPr lang="en-US" sz="1600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Highly reliable</a:t>
            </a:r>
            <a:r>
              <a:rPr lang="en-US" sz="1600" spc="5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career</a:t>
            </a:r>
            <a:r>
              <a:rPr lang="en-US" sz="1600" spc="5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spc="-20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path </a:t>
            </a:r>
            <a:r>
              <a:rPr lang="en-US" sz="1600" spc="-10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suggestions.</a:t>
            </a:r>
            <a:endParaRPr 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IN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BAB954-C72E-4D8F-FEAE-7CE00FB862A0}"/>
              </a:ext>
            </a:extLst>
          </p:cNvPr>
          <p:cNvSpPr txBox="1"/>
          <p:nvPr/>
        </p:nvSpPr>
        <p:spPr>
          <a:xfrm>
            <a:off x="3273552" y="2185416"/>
            <a:ext cx="2636520" cy="246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US" sz="5400" b="1" spc="-14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&lt;</a:t>
            </a:r>
            <a:r>
              <a:rPr lang="en-US" sz="5400" b="1" spc="-38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400" b="1" spc="-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2s</a:t>
            </a:r>
            <a:endParaRPr lang="en-US" sz="5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>
              <a:lnSpc>
                <a:spcPct val="100000"/>
              </a:lnSpc>
              <a:spcBef>
                <a:spcPts val="1335"/>
              </a:spcBef>
            </a:pPr>
            <a:r>
              <a:rPr lang="en-US" sz="2400" b="1" spc="-8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Response</a:t>
            </a:r>
            <a:r>
              <a:rPr lang="en-US" sz="2400" b="1" spc="-10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spc="-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Time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2700" marR="5080" algn="ctr">
              <a:lnSpc>
                <a:spcPct val="135000"/>
              </a:lnSpc>
              <a:spcBef>
                <a:spcPts val="520"/>
              </a:spcBef>
            </a:pPr>
            <a:r>
              <a:rPr lang="en-US" sz="1600" spc="-10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Instant</a:t>
            </a:r>
            <a:r>
              <a:rPr lang="en-US" sz="1600" spc="55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feedback</a:t>
            </a:r>
            <a:r>
              <a:rPr lang="en-US" sz="1600" spc="60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spc="25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 </a:t>
            </a:r>
            <a:r>
              <a:rPr lang="en-US" sz="1600" spc="-10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recommendations.</a:t>
            </a:r>
            <a:endParaRPr 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IN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4187A8-8E97-E693-20A1-7B00A43A7EC6}"/>
              </a:ext>
            </a:extLst>
          </p:cNvPr>
          <p:cNvSpPr txBox="1"/>
          <p:nvPr/>
        </p:nvSpPr>
        <p:spPr>
          <a:xfrm>
            <a:off x="6096000" y="2185416"/>
            <a:ext cx="2834640" cy="2834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US" sz="5400" b="1" spc="-3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4.</a:t>
            </a:r>
            <a:r>
              <a:rPr lang="en-US" sz="5400" b="1" spc="-88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7</a:t>
            </a:r>
            <a:r>
              <a:rPr lang="en-US" sz="5400" b="1" spc="-3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en-US" sz="5400" b="1" spc="-34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</a:t>
            </a:r>
            <a:endParaRPr lang="en-US" sz="5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>
              <a:lnSpc>
                <a:spcPct val="100000"/>
              </a:lnSpc>
              <a:spcBef>
                <a:spcPts val="1335"/>
              </a:spcBef>
            </a:pPr>
            <a:r>
              <a:rPr lang="en-US" sz="2400" b="1" spc="-8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User</a:t>
            </a:r>
            <a:r>
              <a:rPr lang="en-US" sz="2400" b="1" spc="-9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spc="-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Interface</a:t>
            </a:r>
            <a:r>
              <a:rPr lang="en-US" sz="2400" b="1" spc="-8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Score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2065" marR="5080" algn="ctr">
              <a:lnSpc>
                <a:spcPct val="135000"/>
              </a:lnSpc>
              <a:spcBef>
                <a:spcPts val="520"/>
              </a:spcBef>
            </a:pPr>
            <a:r>
              <a:rPr lang="en-US" sz="1600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Exceptional</a:t>
            </a:r>
            <a:r>
              <a:rPr lang="en-US" sz="1600" spc="45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usability</a:t>
            </a:r>
            <a:r>
              <a:rPr lang="en-US" sz="1600" spc="45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spc="25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 </a:t>
            </a:r>
            <a:r>
              <a:rPr lang="en-US" sz="1600" spc="-10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satisfaction.</a:t>
            </a:r>
            <a:endParaRPr 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IN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F4EBC7-8BC3-876A-9A1E-648962BA3628}"/>
              </a:ext>
            </a:extLst>
          </p:cNvPr>
          <p:cNvSpPr txBox="1"/>
          <p:nvPr/>
        </p:nvSpPr>
        <p:spPr>
          <a:xfrm>
            <a:off x="9357360" y="2185416"/>
            <a:ext cx="2834640" cy="2492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US" sz="5400" b="1" spc="-6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99.9%</a:t>
            </a:r>
            <a:endParaRPr lang="en-US" sz="5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>
              <a:lnSpc>
                <a:spcPct val="100000"/>
              </a:lnSpc>
              <a:spcBef>
                <a:spcPts val="1335"/>
              </a:spcBef>
            </a:pPr>
            <a:r>
              <a:rPr lang="en-US" sz="2400" b="1" spc="-9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System</a:t>
            </a:r>
            <a:r>
              <a:rPr lang="en-US" sz="2400" b="1" spc="-11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Uptime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2065" marR="5080" algn="ctr">
              <a:lnSpc>
                <a:spcPct val="135000"/>
              </a:lnSpc>
              <a:spcBef>
                <a:spcPts val="520"/>
              </a:spcBef>
            </a:pPr>
            <a:r>
              <a:rPr lang="en-US" sz="1600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Consistent </a:t>
            </a:r>
            <a:r>
              <a:rPr lang="en-US" sz="1600" spc="-10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availability</a:t>
            </a:r>
            <a:r>
              <a:rPr lang="en-US" sz="1600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spc="25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 </a:t>
            </a:r>
            <a:r>
              <a:rPr lang="en-US" sz="1600" spc="-10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reliability.</a:t>
            </a:r>
            <a:endParaRPr 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IN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10272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932FE-DF4C-B6E2-6BEE-1AAEF26CF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u="sng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Future </a:t>
            </a:r>
            <a:r>
              <a:rPr lang="en-IN" sz="4000" u="sng" spc="-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Enhancements:</a:t>
            </a:r>
            <a:r>
              <a:rPr lang="en-IN" sz="4000" u="sng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N" sz="4000" u="sng" spc="-1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Scaling </a:t>
            </a:r>
            <a:r>
              <a:rPr lang="en-IN" sz="4000" u="sng" spc="-29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Impact</a:t>
            </a:r>
            <a:endParaRPr lang="en-IN" sz="4000" u="sng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83335-3802-00B5-03AF-3D391D61F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3500" spc="-110" dirty="0">
                <a:latin typeface="Tahoma"/>
                <a:cs typeface="Tahoma"/>
              </a:rPr>
              <a:t>Mobile</a:t>
            </a:r>
            <a:r>
              <a:rPr lang="en-US" sz="3500" spc="-150" dirty="0">
                <a:latin typeface="Tahoma"/>
                <a:cs typeface="Tahoma"/>
              </a:rPr>
              <a:t> </a:t>
            </a:r>
            <a:r>
              <a:rPr lang="en-US" sz="3500" spc="-10" dirty="0">
                <a:latin typeface="Tahoma"/>
                <a:cs typeface="Tahoma"/>
              </a:rPr>
              <a:t>Application</a:t>
            </a:r>
            <a:endParaRPr lang="en-US" sz="3500" dirty="0">
              <a:latin typeface="Tahoma"/>
              <a:cs typeface="Tahoma"/>
            </a:endParaRPr>
          </a:p>
          <a:p>
            <a:pPr marL="0" indent="0">
              <a:lnSpc>
                <a:spcPct val="100000"/>
              </a:lnSpc>
              <a:spcBef>
                <a:spcPts val="1120"/>
              </a:spcBef>
              <a:buNone/>
            </a:pPr>
            <a:r>
              <a:rPr lang="en-US" sz="3000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Reach</a:t>
            </a:r>
            <a:r>
              <a:rPr lang="en-US" sz="3000" spc="85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3000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lang="en-US" sz="3000" spc="90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3000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wider</a:t>
            </a:r>
            <a:r>
              <a:rPr lang="en-US" sz="3000" spc="85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3000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audience</a:t>
            </a:r>
            <a:r>
              <a:rPr lang="en-US" sz="3000" spc="90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3000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on-the-</a:t>
            </a:r>
            <a:r>
              <a:rPr lang="en-US" sz="3000" spc="-25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go.</a:t>
            </a:r>
            <a:endParaRPr lang="en-US" sz="3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85"/>
              </a:spcBef>
              <a:buNone/>
            </a:pP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 sz="3200" spc="-8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Advanced</a:t>
            </a:r>
            <a:r>
              <a:rPr lang="en-US" sz="3200" spc="-1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3200" spc="-14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ML</a:t>
            </a:r>
            <a:r>
              <a:rPr lang="en-US" sz="3200" spc="-1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32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Models</a:t>
            </a: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1045"/>
              </a:spcBef>
              <a:buNone/>
            </a:pPr>
            <a:r>
              <a:rPr lang="en-US" dirty="0">
                <a:solidFill>
                  <a:srgbClr val="374552"/>
                </a:solidFill>
                <a:latin typeface="Verdana"/>
                <a:cs typeface="Verdana"/>
              </a:rPr>
              <a:t>  </a:t>
            </a:r>
            <a:r>
              <a:rPr lang="en-US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Integration</a:t>
            </a:r>
            <a:r>
              <a:rPr lang="en-US" spc="-5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</a:t>
            </a:r>
            <a:r>
              <a:rPr lang="en-US" spc="-5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Neural</a:t>
            </a:r>
            <a:r>
              <a:rPr lang="en-US" spc="-5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Networks </a:t>
            </a:r>
            <a:r>
              <a:rPr lang="en-US" spc="-10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</a:t>
            </a:r>
            <a:r>
              <a:rPr lang="en-US" spc="-5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deeper</a:t>
            </a:r>
            <a:r>
              <a:rPr lang="en-US" spc="-5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pc="-10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insights.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85"/>
              </a:spcBef>
              <a:buNone/>
            </a:pPr>
            <a:endParaRPr lang="en-US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lang="en-US" sz="3200" spc="-120" dirty="0">
                <a:latin typeface="Tahoma"/>
                <a:cs typeface="Tahoma"/>
              </a:rPr>
              <a:t>Company</a:t>
            </a:r>
            <a:r>
              <a:rPr lang="en-US" sz="3200" spc="-105" dirty="0">
                <a:latin typeface="Tahoma"/>
                <a:cs typeface="Tahoma"/>
              </a:rPr>
              <a:t> </a:t>
            </a:r>
            <a:r>
              <a:rPr lang="en-US" sz="3200" spc="-10" dirty="0">
                <a:latin typeface="Tahoma"/>
                <a:cs typeface="Tahoma"/>
              </a:rPr>
              <a:t>Partnerships</a:t>
            </a:r>
            <a:endParaRPr lang="en-US" sz="3200" dirty="0">
              <a:latin typeface="Tahoma"/>
              <a:cs typeface="Tahoma"/>
            </a:endParaRPr>
          </a:p>
          <a:p>
            <a:pPr marL="0" indent="0">
              <a:lnSpc>
                <a:spcPct val="100000"/>
              </a:lnSpc>
              <a:spcBef>
                <a:spcPts val="1120"/>
              </a:spcBef>
              <a:buNone/>
            </a:pPr>
            <a:r>
              <a:rPr lang="en-US" spc="45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Connecting</a:t>
            </a:r>
            <a:r>
              <a:rPr lang="en-US" spc="-15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pc="-10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users</a:t>
            </a:r>
            <a:r>
              <a:rPr lang="en-US" spc="-15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directly</a:t>
            </a:r>
            <a:r>
              <a:rPr lang="en-US" spc="-15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with</a:t>
            </a:r>
            <a:r>
              <a:rPr lang="en-US" spc="-15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pc="-10" dirty="0">
                <a:solidFill>
                  <a:srgbClr val="3745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employers.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72148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ABA5AD-2629-5B77-7461-DA65F37554F3}"/>
              </a:ext>
            </a:extLst>
          </p:cNvPr>
          <p:cNvSpPr txBox="1"/>
          <p:nvPr/>
        </p:nvSpPr>
        <p:spPr>
          <a:xfrm>
            <a:off x="2724912" y="2505670"/>
            <a:ext cx="70591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5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Thank You </a:t>
            </a:r>
            <a:endParaRPr lang="en-IN" sz="5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17277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du2Job.potx" id="{B6CE1275-8AF4-4AEE-B56D-11D1F67E7BD6}" vid="{9512BED3-6C1B-4792-B96B-B300FC0D54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Edu2Job</Template>
  <TotalTime>590</TotalTime>
  <Words>426</Words>
  <Application>Microsoft Office PowerPoint</Application>
  <PresentationFormat>Widescreen</PresentationFormat>
  <Paragraphs>114</Paragraphs>
  <Slides>28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Calibri Light</vt:lpstr>
      <vt:lpstr>Tahoma</vt:lpstr>
      <vt:lpstr>Verdana</vt:lpstr>
      <vt:lpstr>Office Theme</vt:lpstr>
      <vt:lpstr>Edu2Job: Predicting Job Roles from Educational Background</vt:lpstr>
      <vt:lpstr>The Problem: Navigating Career Uncertainty</vt:lpstr>
      <vt:lpstr>Our Solution: Edu2Job</vt:lpstr>
      <vt:lpstr>Key Objectives Achieved</vt:lpstr>
      <vt:lpstr>Technology Architecture</vt:lpstr>
      <vt:lpstr>Milestone 1: User Authentication &amp; Profile Management</vt:lpstr>
      <vt:lpstr>PowerPoint Presentation</vt:lpstr>
      <vt:lpstr>PowerPoint Presentation</vt:lpstr>
      <vt:lpstr>PowerPoint Presentation</vt:lpstr>
      <vt:lpstr>PowerPoint Presentation</vt:lpstr>
      <vt:lpstr>Milestone 2: Education Details Input &amp; Preprocessing Module</vt:lpstr>
      <vt:lpstr>PowerPoint Presentation</vt:lpstr>
      <vt:lpstr>PowerPoint Presentation</vt:lpstr>
      <vt:lpstr>PowerPoint Presentation</vt:lpstr>
      <vt:lpstr>PowerPoint Presentation</vt:lpstr>
      <vt:lpstr>Milestone 3: Job Role Prediction Module</vt:lpstr>
      <vt:lpstr>PowerPoint Presentation</vt:lpstr>
      <vt:lpstr>PowerPoint Presentation</vt:lpstr>
      <vt:lpstr>PowerPoint Presentation</vt:lpstr>
      <vt:lpstr>PowerPoint Presentation</vt:lpstr>
      <vt:lpstr>Milestone 4: Admin Dashboard &amp; Model Management</vt:lpstr>
      <vt:lpstr>PowerPoint Presentation</vt:lpstr>
      <vt:lpstr>PowerPoint Presentation</vt:lpstr>
      <vt:lpstr>PowerPoint Presentation</vt:lpstr>
      <vt:lpstr>PowerPoint Presentation</vt:lpstr>
      <vt:lpstr>Performance Metrics</vt:lpstr>
      <vt:lpstr>Future Enhancements: Scaling Impact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Harini M</dc:creator>
  <cp:lastModifiedBy>Harini M</cp:lastModifiedBy>
  <cp:revision>7</cp:revision>
  <dcterms:created xsi:type="dcterms:W3CDTF">2026-01-18T14:37:56Z</dcterms:created>
  <dcterms:modified xsi:type="dcterms:W3CDTF">2026-01-21T17:01:13Z</dcterms:modified>
</cp:coreProperties>
</file>